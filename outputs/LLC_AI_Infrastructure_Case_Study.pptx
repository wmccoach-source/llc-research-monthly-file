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6858000" cy="9905695"/>
  <p:notesSz cx="9905695"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The photo is the glass towers image from the March BDC cover, used as a stand in. Swap in a fresh photo before publishing. Keep the 7.5 x 10.83 inch frame and the maroon box position so it lines up with the other covers. The cover is page 4 in the full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5 CHART IDEAS AND LINKS
Slots hold charts C and D. Data lives in data/chart_data.json. Set verified to true after the fact checker confirms the numbers and the chart renders natively.
CHART C (Page 5, left)
Capex Versus Operating Cash Flow and Debt Funding ($bn)
Clustered column plus a callout for debt share
  2026 hyperscaler capex estimate  |  about 750  |  Goldman Sachs
  2026 operating cash flow estimate  |  about 778  |  Goldman Sachs
  Debt issuance as a share of capex  |  about 33% in 2026, 35% in 2027  |  Goldman Sachs
S&amp;P's own capex estimate for the five is also about $750bn, equal to 38% of their combined revenue, which gives a second source.
  Goldman capex and cash flow figures via Yahoo Finance https://finance.yahoo.com/markets/stocks/articles/hyperscaler-debt-binge-pushes-yields-134825104.html
  S&amp;P capex estimate and ratings by issuer via MLQ https://mlq.ai/news/hyperscaler-bond-issuance-reaches-about-220-billion-as-ai-financing-costs-rise/
CHART D (Page 5, right)
Asset Life Versus Debt Maturity (years)
Horizontal bar, shows the duration mismatch in one picture
  GPU useful life  |  3 to 5  |  Capacity
  Hyperion initial lease term  |  4 (extensions available)  |  Bloomberg via iTiger
  El Paso lease obligation  |  up to 20  |  Zhitong via Webull
  El Paso bond maturity  |  2048, about 22 years  |  Bloomberg via Briefs
  Hyperion bond maturity  |  2049, about 24 years  |  Capacity
This is the most original visual in the set. The El Paso 20 year lease comes from a weaker source, so verify it before using.
  Duration mismatch discussion, Capacity https://capacityglobal.com/news/metas-12bn-el-paso-bond-exposes-ai-debt-repricing/
  Hyperion lease and residual value guarantee https://www.itiger.com/news/1142559708
  El Paso lease and insurance details https://finance.biggo.com/news/9e8d67e5-ca22-44ed-a1bd-0753ecac9f88
LAYOUT NOTE
Body is Times New Roman 10.5 pt justified, section headings 20 pt, title 26 pt bold, matching the August and March case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 CHART IDEAS AND LINKS
Slots hold charts A and B. E, F and G are optional swaps.
CHART A (Page 6, left)
AI Infrastructure Debt Yields (%)
Horizontal bar, maroon shades like the Auto ABS chart
  Meta corporate bond (comparable)  |  about 5.5  |  Oct 2025
  Hyperion project bonds (A+)  |  6.58  |  Oct 2025
  Oracle 10 year bond  |  about 6.5  |  Jul 2026
  El Paso project bonds (A+)  |  7.534  |  Jul 2026
  CoreWeave Digital Drive notes  |  9.25  |  Sep 2026
Bars mix dates and maturities, so label each bar with its pricing date. A cleaner version plots spread over Treasuries. I only found a spread for El Paso (about 287.5bps over the 10 year), so pull the rest from Bloomberg before publishing.
  El Paso repricing, Capacity https://capacityglobal.com/news/metas-12bn-el-paso-bond-exposes-ai-debt-repricing/
  El Paso 7.534% yield and 287.5bps spread https://www.bitget.com/news/detail/12560605553292
  Hyperion A+ rating and structure, The Asset https://www.theasset.com/article/55209/theasset.com
  Hyperion 6.58% versus 5.5% Meta corporate https://marcellus.in/story/short-read-three-ai-megadeals-are-breaking-new-ground-on-wall-street/
  Oracle 10 year near 6.5%, Bloomberg via TNW https://thenextweb.com/news/oracle-sp-downgrade-ai-spending-junk-risk
  CoreWeave site 9.25% and plus 270bps https://aiweekly.co/alerts/blue-owl-backed-coreweave-data-center-prices-11b-in-junk-bonds-at-925-270bps
CHART B (Page 6, right)
Hyperscaler Bond Issuance ($bn)
Column chart, last two bars shaded lighter to show estimates
  2025 full year (Amazon, Alphabet, Meta, Oracle)  |  about 108  |  Reuters and LSEG
  2026 through July 7 (same four issuers)  |  about 194  |  Reuters and LSEG
  2026 estimate (five hyperscalers)  |  about 250  |  Goldman Sachs
  2027 estimate (five hyperscalers)  |  about 400  |  Goldman Sachs
The first two bars cover four issuers and Goldman's cover five (adding Microsoft), so footnote the scope or use one scope throughout. A stacked version by issuer is possible using the dated issuance table in the Silicon Analysts link.
  Reuters analysis of LSEG data via Yahoo Finance https://finance.yahoo.com/markets/stocks/articles/hyperscaler-debt-binge-pushes-yields-134825104.html
  Dated deal table by issuer, Silicon Analysts https://siliconanalysts.com/analysis/hyperscaler-ai-capex-depreciation-wall-2026
  Issuance by currency, about $170bn by June 26, Aviva Investors https://www.avivainvestors.com/en-us/views/aiq-investment-thinking/2026/07/bond-voyage/
  About $220bn through August, via MLQ https://mlq.ai/news/hyperscaler-bond-issuance-reaches-about-220-billion-as-ai-financing-costs-rise/
CHART E (Optional, page 6 swap)
Oracle Credit Spread Versus BBB Index
Line chart
  Oracle 5 year CDS, 2025 to present  |  Bloomberg ORCL CDS  |  Bloomberg terminal
  ICE BofA BBB option adjusted spread  |  FRED BAMLC0A4CBBB  |  FRED
  ICE BofA high yield option adjusted spread  |  FRED BAMLH0A0HYM2  |  FRED
Pairs naturally with the BBB- downgrade and the August recap's high yield spread discussion. FRED series IDs are from memory and I did not open them this session, so confirm the links resolve. Oracle CDS has to come from Bloomberg.
  BBB spread, FRED https://fred.stlouisfed.org/series/BAMLC0A4CBBB
  High yield spread, FRED https://fred.stlouisfed.org/series/BAMLH0A0HYM2
  Oracle downgrade details, PPC Land https://ppc.land/s-p-cuts-oracle-to-bbb-as-ai-buildout-widens-cash-deficit-to-42bn/
  Oracle BBB- and bond yield, TNW https://thenextweb.com/news/oracle-sp-downgrade-ai-spending-junk-risk
CHART F (Optional, Oracle callout graphic)
Project Jupiter Timeline
Simple dated timeline
  Late 2025  |  About $18bn of bank loans arranged by about 20 banks  |  FT via Reuters
  Jul 9, 2026  |  S&amp;P cuts Oracle to BBB-  |  S&amp;P via PPC Land
  Sep 18 to 19, 2026  |  Loans quoted at 89 to 91 cents  |  FT via Reuters
  Sep 24, 2026  |  Oracle sends force majeure notice to Blue Owl unit  |  Reuters, Bloomberg
  Feb 1, 2027  |  Gas pipeline in service date after two state denials  |  Bloomberg via AI Weekly
  2028  |  Planned campus opening  |  Reuters
Useful if the Oracle callout needs a visual instead of a second page two chart.
  Reuters on the force majeure notice https://kfgo.com/?p=1355919
  FT report on loan prices via The Star https://www.thestar.com.my/tech/tech-news/2026/09/19/oracle039s-18-billion-data-center-debt-under-pressure-ft-reports
  Pipeline delay detail, AI Weekly https://aiweekly.co/alerts/oracle-sends-force-majeure-notice-on-blue-owls-project-jupiter
  Axios on spread moves in related notes https://axios.com/2026/09/25/oracle-debt-data-centers
CHART G (Optional)
Hyperscaler Bonds Trading Wider Than Issue
Two simple stat callouts or a small bar pair
  Bonds trading wider than issue (July 28)  |  78 of 91  |  Reuters and LSEG
  Median yield increase  |  about 22bps  |  Reuters and LSEG
  Median new issue concession  |  12bps in 2026 versus 2.25bps in 2025  |  Reuters and LSEG
  Hyperscaler share of USD IG issuance  |  about 2% (2022 to 2024) versus about 9% projected 2026  |  Bloomberg via ECM Source
The share of IG issuance figure comes from an aggregator quoting Morningstar and Bloomberg, so verify it before using.
  Reuters via Yahoo Finance https://finance.yahoo.com/markets/stocks/articles/hyperscaler-debt-binge-pushes-yields-134825104.html
  IG record August and issuer share, ECM Source https://ecmsource.com/investment-grade-bond-issuance-record-august-2026-ai-hyperscalers-145-billion/
  Amazon deal pushing spreads wider, Sage Advisory https://www.sageadvisory.com/article/hyperscaler-debt-deluge-the-new-driver-of-ig-spread-pressure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LC_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LC_CASE_PAGE">
    <p:bg>
      <p:bgPr>
        <a:solidFill>
          <a:srgbClr val="F4F1EC"/>
        </a:solidFill>
      </p:bgPr>
    </p:bg>
    <p:spTree>
      <p:nvGrpSpPr>
        <p:cNvPr id="1" name=""/>
        <p:cNvGrpSpPr/>
        <p:nvPr/>
      </p:nvGrpSpPr>
      <p:grpSpPr>
        <a:xfrm>
          <a:off x="0" y="0"/>
          <a:ext cx="0" cy="0"/>
          <a:chOff x="0" y="0"/>
          <a:chExt cx="0" cy="0"/>
        </a:xfrm>
      </p:grpSpPr>
      <p:sp>
        <p:nvSpPr>
          <p:cNvPr id="2" name="Text 0"/>
          <p:cNvSpPr/>
          <p:nvPr/>
        </p:nvSpPr>
        <p:spPr>
          <a:xfrm>
            <a:off x="4069080" y="182880"/>
            <a:ext cx="2103120" cy="411480"/>
          </a:xfrm>
          <a:prstGeom prst="rect">
            <a:avLst/>
          </a:prstGeom>
          <a:noFill/>
          <a:ln/>
        </p:spPr>
        <p:txBody>
          <a:bodyPr wrap="square" lIns="0" tIns="0" rIns="0" bIns="0" rtlCol="0" anchor="ctr"/>
          <a:lstStyle/>
          <a:p>
            <a:pPr algn="r" indent="0" marL="0">
              <a:buNone/>
            </a:pPr>
            <a:r>
              <a:rPr lang="en-US" sz="2600" dirty="0">
                <a:solidFill>
                  <a:srgbClr val="5A2020"/>
                </a:solidFill>
                <a:latin typeface="Times New Roman" pitchFamily="34" charset="0"/>
                <a:ea typeface="Times New Roman" pitchFamily="34" charset="-122"/>
                <a:cs typeface="Times New Roman" pitchFamily="34" charset="-120"/>
              </a:rPr>
              <a:t>L | L | C</a:t>
            </a:r>
            <a:endParaRPr lang="en-US" sz="2600" dirty="0"/>
          </a:p>
        </p:txBody>
      </p:sp>
      <p:sp>
        <p:nvSpPr>
          <p:cNvPr id="3" name="Shape 1"/>
          <p:cNvSpPr/>
          <p:nvPr/>
        </p:nvSpPr>
        <p:spPr>
          <a:xfrm>
            <a:off x="457200" y="9345168"/>
            <a:ext cx="5943600" cy="0"/>
          </a:xfrm>
          <a:prstGeom prst="line">
            <a:avLst/>
          </a:prstGeom>
          <a:noFill/>
          <a:ln w="9525">
            <a:solidFill>
              <a:srgbClr val="5A2020"/>
            </a:solidFill>
            <a:prstDash val="solid"/>
          </a:ln>
        </p:spPr>
      </p:sp>
      <p:pic>
        <p:nvPicPr>
          <p:cNvPr id="4" name="Image 0" descr="/home/claude/scaffold/case-study/assets/footer_bar.png">    </p:cNvPr>
          <p:cNvPicPr>
            <a:picLocks noChangeAspect="1"/>
          </p:cNvPicPr>
          <p:nvPr/>
        </p:nvPicPr>
        <p:blipFill>
          <a:blip r:embed="rId1"/>
          <a:stretch>
            <a:fillRect/>
          </a:stretch>
        </p:blipFill>
        <p:spPr>
          <a:xfrm>
            <a:off x="0" y="9692640"/>
            <a:ext cx="6858000" cy="213055"/>
          </a:xfrm>
          <a:prstGeom prst="rect">
            <a:avLst/>
          </a:prstGeom>
        </p:spPr>
      </p:pic>
      <p:sp>
        <p:nvSpPr>
          <p:cNvPr id="5" name="Text 2"/>
          <p:cNvSpPr/>
          <p:nvPr>
            <p:ph idx="103" type="title" hasCustomPrompt="1"/>
          </p:nvPr>
        </p:nvSpPr>
        <p:spPr>
          <a:xfrm>
            <a:off x="557784" y="566928"/>
            <a:ext cx="5303520" cy="457200"/>
          </a:xfrm>
          <a:prstGeom prst="rect">
            <a:avLst/>
          </a:prstGeom>
          <a:noFill/>
          <a:ln/>
        </p:spPr>
        <p:txBody>
          <a:bodyPr wrap="square" rtlCol="0"/>
          <a:lstStyle>
            <a:lvl1pPr algn="l" indent="0" marL="0">
              <a:buNone/>
              <a:defRPr lang="en-US" sz="2600" b="1" dirty="0">
                <a:solidFill>
                  <a:srgbClr val="000000"/>
                </a:solidFill>
                <a:latin typeface="Times New Roman" pitchFamily="34" charset="0"/>
                <a:ea typeface="Times New Roman" pitchFamily="34" charset="-122"/>
                <a:cs typeface="Times New Roman" pitchFamily="34" charset="-120"/>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photo" descr="Glass office towers seen from below">    </p:cNvPr>
          <p:cNvPicPr>
            <a:picLocks noChangeAspect="1"/>
          </p:cNvPicPr>
          <p:nvPr/>
        </p:nvPicPr>
        <p:blipFill>
          <a:blip r:embed="rId1"/>
          <a:stretch>
            <a:fillRect/>
          </a:stretch>
        </p:blipFill>
        <p:spPr>
          <a:xfrm>
            <a:off x="0" y="0"/>
            <a:ext cx="6858000" cy="9905695"/>
          </a:xfrm>
          <a:prstGeom prst="rect">
            <a:avLst/>
          </a:prstGeom>
        </p:spPr>
      </p:pic>
      <p:sp>
        <p:nvSpPr>
          <p:cNvPr id="3" name="Cover box"/>
          <p:cNvSpPr/>
          <p:nvPr/>
        </p:nvSpPr>
        <p:spPr>
          <a:xfrm>
            <a:off x="0" y="2423160"/>
            <a:ext cx="4041648" cy="1965960"/>
          </a:xfrm>
          <a:prstGeom prst="rect">
            <a:avLst/>
          </a:prstGeom>
          <a:solidFill>
            <a:srgbClr val="4F1D1B">
              <a:alpha val="94000"/>
            </a:srgbClr>
          </a:solidFill>
          <a:ln w="12700">
            <a:solidFill>
              <a:srgbClr val="4F1D1B"/>
            </a:solidFill>
            <a:prstDash val="solid"/>
          </a:ln>
        </p:spPr>
      </p:sp>
      <p:sp>
        <p:nvSpPr>
          <p:cNvPr id="4" name="Cover logo"/>
          <p:cNvSpPr txBox="1"/>
          <p:nvPr/>
        </p:nvSpPr>
        <p:spPr>
          <a:xfrm>
            <a:off x="0" y="2542032"/>
            <a:ext cx="4041648" cy="731520"/>
          </a:xfrm>
          <a:prstGeom prst="rect">
            <a:avLst/>
          </a:prstGeom>
          <a:noFill/>
          <a:ln/>
        </p:spPr>
        <p:txBody>
          <a:bodyPr wrap="square" lIns="0" tIns="0" rIns="0" bIns="0" rtlCol="0" anchor="ctr"/>
          <a:lstStyle/>
          <a:p>
            <a:pPr algn="ctr" indent="0" marL="0">
              <a:buNone/>
            </a:pPr>
            <a:r>
              <a:rPr lang="en-US" sz="4400" dirty="0">
                <a:solidFill>
                  <a:srgbClr val="FFFFFF"/>
                </a:solidFill>
                <a:latin typeface="Times New Roman" pitchFamily="34" charset="0"/>
                <a:ea typeface="Times New Roman" pitchFamily="34" charset="-122"/>
                <a:cs typeface="Times New Roman" pitchFamily="34" charset="-120"/>
              </a:rPr>
              <a:t>L | L | C</a:t>
            </a:r>
            <a:endParaRPr lang="en-US" sz="4400" dirty="0"/>
          </a:p>
        </p:txBody>
      </p:sp>
      <p:sp>
        <p:nvSpPr>
          <p:cNvPr id="5" name="Cover firm"/>
          <p:cNvSpPr txBox="1"/>
          <p:nvPr/>
        </p:nvSpPr>
        <p:spPr>
          <a:xfrm>
            <a:off x="0" y="3246120"/>
            <a:ext cx="4041648" cy="320040"/>
          </a:xfrm>
          <a:prstGeom prst="rect">
            <a:avLst/>
          </a:prstGeom>
          <a:noFill/>
          <a:ln/>
        </p:spPr>
        <p:txBody>
          <a:bodyPr wrap="square" lIns="0" tIns="0" rIns="0" bIns="0" rtlCol="0" anchor="ctr"/>
          <a:lstStyle/>
          <a:p>
            <a:pPr algn="ctr" indent="0" marL="0">
              <a:buNone/>
            </a:pPr>
            <a:r>
              <a:rPr lang="en-US" sz="1700" dirty="0">
                <a:solidFill>
                  <a:srgbClr val="FFFFFF"/>
                </a:solidFill>
                <a:latin typeface="Times New Roman" pitchFamily="34" charset="0"/>
                <a:ea typeface="Times New Roman" pitchFamily="34" charset="-122"/>
                <a:cs typeface="Times New Roman" pitchFamily="34" charset="-120"/>
              </a:rPr>
              <a:t>Leveraged Lion Capital</a:t>
            </a:r>
            <a:endParaRPr lang="en-US" sz="1700" dirty="0"/>
          </a:p>
        </p:txBody>
      </p:sp>
      <p:sp>
        <p:nvSpPr>
          <p:cNvPr id="6" name="Cover rule"/>
          <p:cNvSpPr/>
          <p:nvPr/>
        </p:nvSpPr>
        <p:spPr>
          <a:xfrm>
            <a:off x="448056" y="3630168"/>
            <a:ext cx="3145536" cy="0"/>
          </a:xfrm>
          <a:prstGeom prst="line">
            <a:avLst/>
          </a:prstGeom>
          <a:noFill/>
          <a:ln w="9525">
            <a:solidFill>
              <a:srgbClr val="FFFFFF"/>
            </a:solidFill>
            <a:prstDash val="solid"/>
          </a:ln>
        </p:spPr>
      </p:sp>
      <p:sp>
        <p:nvSpPr>
          <p:cNvPr id="7" name="Cover title"/>
          <p:cNvSpPr txBox="1"/>
          <p:nvPr/>
        </p:nvSpPr>
        <p:spPr>
          <a:xfrm>
            <a:off x="0" y="3703320"/>
            <a:ext cx="4041648" cy="640080"/>
          </a:xfrm>
          <a:prstGeom prst="rect">
            <a:avLst/>
          </a:prstGeom>
          <a:noFill/>
          <a:ln/>
        </p:spPr>
        <p:txBody>
          <a:bodyPr wrap="square" lIns="0" tIns="0" rIns="0" bIns="0" rtlCol="0" anchor="ctr"/>
          <a:lstStyle/>
          <a:p>
            <a:pPr algn="ctr" indent="0" marL="0">
              <a:buNone/>
            </a:pPr>
            <a:r>
              <a:rPr lang="en-US" sz="1700" dirty="0">
                <a:solidFill>
                  <a:srgbClr val="FFFFFF"/>
                </a:solidFill>
                <a:latin typeface="Times New Roman" pitchFamily="34" charset="0"/>
                <a:ea typeface="Times New Roman" pitchFamily="34" charset="-122"/>
                <a:cs typeface="Times New Roman" pitchFamily="34" charset="-120"/>
              </a:rPr>
              <a:t>Case Study</a:t>
            </a:r>
            <a:endParaRPr lang="en-US" sz="1700" dirty="0"/>
          </a:p>
          <a:p>
            <a:pPr algn="ctr" indent="0" marL="0">
              <a:buNone/>
            </a:pPr>
            <a:r>
              <a:rPr lang="en-US" sz="1700" dirty="0">
                <a:solidFill>
                  <a:srgbClr val="FFFFFF"/>
                </a:solidFill>
                <a:latin typeface="Times New Roman" pitchFamily="34" charset="0"/>
                <a:ea typeface="Times New Roman" pitchFamily="34" charset="-122"/>
                <a:cs typeface="Times New Roman" pitchFamily="34" charset="-120"/>
              </a:rPr>
              <a:t>AI Infrastructure Financing</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title" hasCustomPrompt="1"/>
          </p:nvPr>
        </p:nvSpPr>
        <p:spPr>
          <a:xfrm>
            <a:off x="557784" y="566928"/>
            <a:ext cx="5303520" cy="457200"/>
          </a:xfrm>
          <a:prstGeom prst="rect">
            <a:avLst/>
          </a:prstGeom>
          <a:noFill/>
          <a:ln/>
        </p:spPr>
        <p:txBody>
          <a:bodyPr wrap="square" lIns="0" tIns="0" rIns="0" bIns="0" rtlCol="0" anchor="ctr"/>
          <a:lstStyle/>
          <a:p>
            <a:pPr algn="l" indent="0" marL="0">
              <a:buNone/>
            </a:pPr>
            <a:r>
              <a:rPr lang="en-US" sz="2600" b="1" dirty="0">
                <a:solidFill>
                  <a:srgbClr val="000000"/>
                </a:solidFill>
                <a:latin typeface="Times New Roman" pitchFamily="34" charset="0"/>
                <a:ea typeface="Times New Roman" pitchFamily="34" charset="-122"/>
                <a:cs typeface="Times New Roman" pitchFamily="34" charset="-120"/>
              </a:rPr>
              <a:t>AI Infrastructure Financing</a:t>
            </a:r>
            <a:endParaRPr lang="en-US" sz="2600" dirty="0"/>
          </a:p>
        </p:txBody>
      </p:sp>
      <p:sp>
        <p:nvSpPr>
          <p:cNvPr id="3" name="Page number box"/>
          <p:cNvSpPr/>
          <p:nvPr/>
        </p:nvSpPr>
        <p:spPr>
          <a:xfrm>
            <a:off x="6364224" y="246888"/>
            <a:ext cx="329184" cy="246888"/>
          </a:xfrm>
          <a:prstGeom prst="rect">
            <a:avLst/>
          </a:prstGeom>
          <a:solidFill>
            <a:srgbClr val="5A2020"/>
          </a:solidFill>
          <a:ln w="12700">
            <a:solidFill>
              <a:srgbClr val="5A2020"/>
            </a:solidFill>
            <a:prstDash val="solid"/>
          </a:ln>
        </p:spPr>
      </p:sp>
      <p:sp>
        <p:nvSpPr>
          <p:cNvPr id="4" name="Page number"/>
          <p:cNvSpPr txBox="1"/>
          <p:nvPr/>
        </p:nvSpPr>
        <p:spPr>
          <a:xfrm>
            <a:off x="6364224" y="246888"/>
            <a:ext cx="329184"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5</a:t>
            </a:r>
            <a:endParaRPr lang="en-US" sz="1100" dirty="0"/>
          </a:p>
        </p:txBody>
      </p:sp>
      <p:sp>
        <p:nvSpPr>
          <p:cNvPr id="5" name="Heading Overview"/>
          <p:cNvSpPr txBox="1"/>
          <p:nvPr/>
        </p:nvSpPr>
        <p:spPr>
          <a:xfrm>
            <a:off x="557784" y="1005840"/>
            <a:ext cx="5742432"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Overview</a:t>
            </a:r>
            <a:endParaRPr lang="en-US" sz="2000" dirty="0"/>
          </a:p>
        </p:txBody>
      </p:sp>
      <p:sp>
        <p:nvSpPr>
          <p:cNvPr id="6" name="Overview body"/>
          <p:cNvSpPr txBox="1"/>
          <p:nvPr/>
        </p:nvSpPr>
        <p:spPr>
          <a:xfrm>
            <a:off x="557784" y="1389888"/>
            <a:ext cx="5742432" cy="1572768"/>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AI infrastructure financing is the debt and structured capital used to build data centers and the compute inside them, and it has shifted from hyperscaler cash flow to the credit markets. The defining structure is the off balance sheet joint venture. A hyperscaler contributes a campus to a special purpose vehicle, a private capital partner takes majority equity, and the vehicle issues long dated bonds or loans secured by a lease back to the hyperscaler. The debt sits at the project level, which keeps leverage off the tenant's balance sheet in exchange for a higher borrowing cost. Meta's $27bn Hyperion campus in Louisiana set the template in October 2025, with Blue Owl holding 80%, Meta holding 20%, and A+ rated bonds priced at 6.58% versus roughly 5.5% on Meta's own corporate debt. It remains the largest private credit transaction ever. Oracle has taken the opposite route by borrowing directly on its own balance sheet.</a:t>
            </a:r>
            <a:endParaRPr lang="en-US" sz="1050" dirty="0"/>
          </a:p>
        </p:txBody>
      </p:sp>
      <p:sp>
        <p:nvSpPr>
          <p:cNvPr id="7" name="Heading AI Infrastructure and the Credit Markets"/>
          <p:cNvSpPr txBox="1"/>
          <p:nvPr/>
        </p:nvSpPr>
        <p:spPr>
          <a:xfrm>
            <a:off x="557784" y="3017520"/>
            <a:ext cx="5742432"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AI Infrastructure and the Credit Markets</a:t>
            </a:r>
            <a:endParaRPr lang="en-US" sz="2000" dirty="0"/>
          </a:p>
        </p:txBody>
      </p:sp>
      <p:sp>
        <p:nvSpPr>
          <p:cNvPr id="8" name="Credit markets body"/>
          <p:cNvSpPr txBox="1"/>
          <p:nvPr/>
        </p:nvSpPr>
        <p:spPr>
          <a:xfrm>
            <a:off x="557784" y="3401568"/>
            <a:ext cx="5742432" cy="169164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The scale of the buildout is what ties this theme to credit. Goldman Sachs expects the largest hyperscalers to spend about $750bn on capital expenditure in 2026 against operating cash flow of roughly $778bn, with debt issuance covering about one third of that spending. Amazon, Alphabet, Meta and Oracle issued about $194bn of bonds through July 7, up 79% from all of 2025, and Goldman expects issuance across the five largest hyperscalers to reach roughly $250bn this year and $400bn in 2027. US investment grade supply set a record $145.2bn in August, the third straight monthly record, as hyperscalers rose from roughly 2% of dollar issuance in 2022 through 2024 to a projected 9% in 2026. Private capital is filling the rest of the gap, with Morgan Stanley estimating that tech companies and related parties could need up to $800bn of private credit through asset specific structures by 2028. The debt behind these structures is long dated, with bonds reaching 2048 and 2049 against GPUs that last three to five years.</a:t>
            </a:r>
            <a:endParaRPr lang="en-US" sz="1050" dirty="0"/>
          </a:p>
        </p:txBody>
      </p:sp>
      <p:sp>
        <p:nvSpPr>
          <p:cNvPr id="9" name="Heading Why It Matters for Credit"/>
          <p:cNvSpPr txBox="1"/>
          <p:nvPr/>
        </p:nvSpPr>
        <p:spPr>
          <a:xfrm>
            <a:off x="557784" y="5193792"/>
            <a:ext cx="5742432"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Why It Matters for Credit</a:t>
            </a:r>
            <a:endParaRPr lang="en-US" sz="2000" dirty="0"/>
          </a:p>
        </p:txBody>
      </p:sp>
      <p:sp>
        <p:nvSpPr>
          <p:cNvPr id="10" name="Why it matters body"/>
          <p:cNvSpPr txBox="1"/>
          <p:nvPr/>
        </p:nvSpPr>
        <p:spPr>
          <a:xfrm>
            <a:off x="557784" y="5577840"/>
            <a:ext cx="5742432" cy="109728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For credit investors, the question is who holds the risk. In the joint venture structure, the hyperscaler's lease supports the bonds, but the project still carries power, permitting, and construction risk that the tenant's rating does not remove. Pricing has started to reflect this, with the El Paso bonds priced at a higher yield than Hyperion. At the same time, Oracle's move to BBB- shows that borrowing directly puts the hyperscaler itself on the credit watchlist. Both paths point to the same place, which is that AI infrastructure is becoming a distinct credit sector with its own spread behavior.</a:t>
            </a:r>
            <a:endParaRPr lang="en-US" sz="1050" dirty="0"/>
          </a:p>
        </p:txBody>
      </p:sp>
      <p:sp>
        <p:nvSpPr>
          <p:cNvPr id="11" name="Chart title C"/>
          <p:cNvSpPr txBox="1"/>
          <p:nvPr/>
        </p:nvSpPr>
        <p:spPr>
          <a:xfrm>
            <a:off x="557784" y="6812280"/>
            <a:ext cx="2798064" cy="256032"/>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Capex Versus Operating Cash Flow ($bn)</a:t>
            </a:r>
            <a:endParaRPr lang="en-US" sz="1100" dirty="0"/>
          </a:p>
        </p:txBody>
      </p:sp>
      <p:sp>
        <p:nvSpPr>
          <p:cNvPr id="12" name="Chart placeholder C"/>
          <p:cNvSpPr/>
          <p:nvPr/>
        </p:nvSpPr>
        <p:spPr>
          <a:xfrm>
            <a:off x="557784" y="7104888"/>
            <a:ext cx="2798064" cy="1993392"/>
          </a:xfrm>
          <a:prstGeom prst="rect">
            <a:avLst/>
          </a:prstGeom>
          <a:solidFill>
            <a:srgbClr val="FFFFFF">
              <a:alpha val="65000"/>
            </a:srgbClr>
          </a:solidFill>
          <a:ln w="12700">
            <a:solidFill>
              <a:srgbClr val="9B3739"/>
            </a:solidFill>
            <a:prstDash val="dash"/>
          </a:ln>
        </p:spPr>
      </p:sp>
      <p:sp>
        <p:nvSpPr>
          <p:cNvPr id="13" name="Chart placeholder text C"/>
          <p:cNvSpPr txBox="1"/>
          <p:nvPr/>
        </p:nvSpPr>
        <p:spPr>
          <a:xfrm>
            <a:off x="694944" y="7104888"/>
            <a:ext cx="2523744" cy="1993392"/>
          </a:xfrm>
          <a:prstGeom prst="rect">
            <a:avLst/>
          </a:prstGeom>
          <a:noFill/>
          <a:ln/>
        </p:spPr>
        <p:txBody>
          <a:bodyPr wrap="square" lIns="0" tIns="0" rIns="0" bIns="0" rtlCol="0" anchor="ctr"/>
          <a:lstStyle/>
          <a:p>
            <a:pPr algn="ctr" indent="0" marL="0">
              <a:buNone/>
            </a:pPr>
            <a:r>
              <a:rPr lang="en-US" sz="1100" b="1" dirty="0">
                <a:solidFill>
                  <a:srgbClr val="9B3739"/>
                </a:solidFill>
                <a:latin typeface="Times New Roman" pitchFamily="34" charset="0"/>
                <a:ea typeface="Times New Roman" pitchFamily="34" charset="-122"/>
                <a:cs typeface="Times New Roman" pitchFamily="34" charset="-120"/>
              </a:rPr>
              <a:t>Insert chart</a:t>
            </a:r>
            <a:endParaRPr lang="en-US" sz="1100" dirty="0"/>
          </a:p>
          <a:p>
            <a:pPr algn="ctr" indent="0" marL="0">
              <a:buNone/>
            </a:pPr>
            <a:r>
              <a:rPr lang="en-US" sz="900" i="1" dirty="0">
                <a:solidFill>
                  <a:srgbClr val="9B3739"/>
                </a:solidFill>
                <a:latin typeface="Times New Roman" pitchFamily="34" charset="0"/>
                <a:ea typeface="Times New Roman" pitchFamily="34" charset="-122"/>
                <a:cs typeface="Times New Roman" pitchFamily="34" charset="-120"/>
              </a:rPr>
              <a:t>2026 capex and operating cash flow</a:t>
            </a:r>
            <a:endParaRPr lang="en-US" sz="1100" dirty="0"/>
          </a:p>
        </p:txBody>
      </p:sp>
      <p:sp>
        <p:nvSpPr>
          <p:cNvPr id="14" name="Chart title D"/>
          <p:cNvSpPr txBox="1"/>
          <p:nvPr/>
        </p:nvSpPr>
        <p:spPr>
          <a:xfrm>
            <a:off x="3502152" y="6812280"/>
            <a:ext cx="2798064" cy="256032"/>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Asset Life Versus Debt Maturity (years)</a:t>
            </a:r>
            <a:endParaRPr lang="en-US" sz="1100" dirty="0"/>
          </a:p>
        </p:txBody>
      </p:sp>
      <p:sp>
        <p:nvSpPr>
          <p:cNvPr id="15" name="Chart placeholder D"/>
          <p:cNvSpPr/>
          <p:nvPr/>
        </p:nvSpPr>
        <p:spPr>
          <a:xfrm>
            <a:off x="3502152" y="7104888"/>
            <a:ext cx="2798064" cy="1993392"/>
          </a:xfrm>
          <a:prstGeom prst="rect">
            <a:avLst/>
          </a:prstGeom>
          <a:solidFill>
            <a:srgbClr val="FFFFFF">
              <a:alpha val="65000"/>
            </a:srgbClr>
          </a:solidFill>
          <a:ln w="12700">
            <a:solidFill>
              <a:srgbClr val="9B3739"/>
            </a:solidFill>
            <a:prstDash val="dash"/>
          </a:ln>
        </p:spPr>
      </p:sp>
      <p:sp>
        <p:nvSpPr>
          <p:cNvPr id="16" name="Chart placeholder text D"/>
          <p:cNvSpPr txBox="1"/>
          <p:nvPr/>
        </p:nvSpPr>
        <p:spPr>
          <a:xfrm>
            <a:off x="3639312" y="7104888"/>
            <a:ext cx="2523744" cy="1993392"/>
          </a:xfrm>
          <a:prstGeom prst="rect">
            <a:avLst/>
          </a:prstGeom>
          <a:noFill/>
          <a:ln/>
        </p:spPr>
        <p:txBody>
          <a:bodyPr wrap="square" lIns="0" tIns="0" rIns="0" bIns="0" rtlCol="0" anchor="ctr"/>
          <a:lstStyle/>
          <a:p>
            <a:pPr algn="ctr" indent="0" marL="0">
              <a:buNone/>
            </a:pPr>
            <a:r>
              <a:rPr lang="en-US" sz="1100" b="1" dirty="0">
                <a:solidFill>
                  <a:srgbClr val="9B3739"/>
                </a:solidFill>
                <a:latin typeface="Times New Roman" pitchFamily="34" charset="0"/>
                <a:ea typeface="Times New Roman" pitchFamily="34" charset="-122"/>
                <a:cs typeface="Times New Roman" pitchFamily="34" charset="-120"/>
              </a:rPr>
              <a:t>Insert chart</a:t>
            </a:r>
            <a:endParaRPr lang="en-US" sz="1100" dirty="0"/>
          </a:p>
          <a:p>
            <a:pPr algn="ctr" indent="0" marL="0">
              <a:buNone/>
            </a:pPr>
            <a:r>
              <a:rPr lang="en-US" sz="900" i="1" dirty="0">
                <a:solidFill>
                  <a:srgbClr val="9B3739"/>
                </a:solidFill>
                <a:latin typeface="Times New Roman" pitchFamily="34" charset="0"/>
                <a:ea typeface="Times New Roman" pitchFamily="34" charset="-122"/>
                <a:cs typeface="Times New Roman" pitchFamily="34" charset="-120"/>
              </a:rPr>
              <a:t>GPU life, lease terms, bond maturities</a:t>
            </a:r>
            <a:endParaRPr lang="en-US" sz="1100" dirty="0"/>
          </a:p>
        </p:txBody>
      </p:sp>
      <p:sp>
        <p:nvSpPr>
          <p:cNvPr id="17" name="Sources"/>
          <p:cNvSpPr txBox="1"/>
          <p:nvPr/>
        </p:nvSpPr>
        <p:spPr>
          <a:xfrm>
            <a:off x="457200" y="9381744"/>
            <a:ext cx="5943600" cy="201168"/>
          </a:xfrm>
          <a:prstGeom prst="rect">
            <a:avLst/>
          </a:prstGeom>
          <a:noFill/>
          <a:ln/>
        </p:spPr>
        <p:txBody>
          <a:bodyPr wrap="square" lIns="0" tIns="0" rIns="0" bIns="0" rtlCol="0" anchor="t"/>
          <a:lstStyle/>
          <a:p>
            <a:pPr indent="0" marL="0">
              <a:buNone/>
            </a:pPr>
            <a:r>
              <a:rPr lang="en-US" sz="750" dirty="0">
                <a:solidFill>
                  <a:srgbClr val="000000"/>
                </a:solidFill>
                <a:latin typeface="Times New Roman" pitchFamily="34" charset="0"/>
                <a:ea typeface="Times New Roman" pitchFamily="34" charset="-122"/>
                <a:cs typeface="Times New Roman" pitchFamily="34" charset="-120"/>
              </a:rPr>
              <a:t>Sources: Reuters, LSEG, Goldman Sachs, Bloomberg, Morgan Stanley, S&amp;P Global Ratings, The Asset</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title" hasCustomPrompt="1"/>
          </p:nvPr>
        </p:nvSpPr>
        <p:spPr>
          <a:xfrm>
            <a:off x="557784" y="566928"/>
            <a:ext cx="5303520" cy="457200"/>
          </a:xfrm>
          <a:prstGeom prst="rect">
            <a:avLst/>
          </a:prstGeom>
          <a:noFill/>
          <a:ln/>
        </p:spPr>
        <p:txBody>
          <a:bodyPr wrap="square" lIns="0" tIns="0" rIns="0" bIns="0" rtlCol="0" anchor="ctr"/>
          <a:lstStyle/>
          <a:p>
            <a:pPr algn="l" indent="0" marL="0">
              <a:buNone/>
            </a:pPr>
            <a:r>
              <a:rPr lang="en-US" sz="2600" b="1" dirty="0">
                <a:solidFill>
                  <a:srgbClr val="000000"/>
                </a:solidFill>
                <a:latin typeface="Times New Roman" pitchFamily="34" charset="0"/>
                <a:ea typeface="Times New Roman" pitchFamily="34" charset="-122"/>
                <a:cs typeface="Times New Roman" pitchFamily="34" charset="-120"/>
              </a:rPr>
              <a:t>AI Debt Issuance</a:t>
            </a:r>
            <a:endParaRPr lang="en-US" sz="2600" dirty="0"/>
          </a:p>
        </p:txBody>
      </p:sp>
      <p:sp>
        <p:nvSpPr>
          <p:cNvPr id="3" name="Page number box"/>
          <p:cNvSpPr/>
          <p:nvPr/>
        </p:nvSpPr>
        <p:spPr>
          <a:xfrm>
            <a:off x="6364224" y="246888"/>
            <a:ext cx="329184" cy="246888"/>
          </a:xfrm>
          <a:prstGeom prst="rect">
            <a:avLst/>
          </a:prstGeom>
          <a:solidFill>
            <a:srgbClr val="5A2020"/>
          </a:solidFill>
          <a:ln w="12700">
            <a:solidFill>
              <a:srgbClr val="5A2020"/>
            </a:solidFill>
            <a:prstDash val="solid"/>
          </a:ln>
        </p:spPr>
      </p:sp>
      <p:sp>
        <p:nvSpPr>
          <p:cNvPr id="4" name="Page number"/>
          <p:cNvSpPr txBox="1"/>
          <p:nvPr/>
        </p:nvSpPr>
        <p:spPr>
          <a:xfrm>
            <a:off x="6364224" y="246888"/>
            <a:ext cx="329184"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6</a:t>
            </a:r>
            <a:endParaRPr lang="en-US" sz="1100" dirty="0"/>
          </a:p>
        </p:txBody>
      </p:sp>
      <p:sp>
        <p:nvSpPr>
          <p:cNvPr id="5" name="Heading Market Activity"/>
          <p:cNvSpPr txBox="1"/>
          <p:nvPr/>
        </p:nvSpPr>
        <p:spPr>
          <a:xfrm>
            <a:off x="557784" y="1005840"/>
            <a:ext cx="5742432"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Market Activity</a:t>
            </a:r>
            <a:endParaRPr lang="en-US" sz="2000" dirty="0"/>
          </a:p>
        </p:txBody>
      </p:sp>
      <p:sp>
        <p:nvSpPr>
          <p:cNvPr id="6" name="Market activity body"/>
          <p:cNvSpPr txBox="1"/>
          <p:nvPr/>
        </p:nvSpPr>
        <p:spPr>
          <a:xfrm>
            <a:off x="557784" y="1389888"/>
            <a:ext cx="5742432" cy="118872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Hyperscaler borrowing is now carrying a cost. Of 91 hyperscaler bonds issued in 2026 with comparable pricing data, 78 traded at higher yields on July 28 than at issuance, with a median increase of about 22bps. The median new issue concession widened to 12bps from 2.25bps in 2025, and Amazon's $25bn deal pushed its existing 30 year bond about 20bps wider. Pressure is greater in project level debt. Meta's El Paso bonds priced in July at a 7.534% yield, about 287.5bps over 10 year Treasuries, and drew roughly $17bn of orders for a $12.55bn deal. In September, a Blue Owl sponsored data center leased entirely to CoreWeave sold $1.1bn of five year notes at 9.25%, roughly 270bps above similarly rated debt.</a:t>
            </a:r>
            <a:endParaRPr lang="en-US" sz="1050" dirty="0"/>
          </a:p>
        </p:txBody>
      </p:sp>
      <p:sp>
        <p:nvSpPr>
          <p:cNvPr id="7" name="Chart title A"/>
          <p:cNvSpPr txBox="1"/>
          <p:nvPr/>
        </p:nvSpPr>
        <p:spPr>
          <a:xfrm>
            <a:off x="557784" y="2670048"/>
            <a:ext cx="2798064" cy="256032"/>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AI Infrastructure Debt Yields (%)</a:t>
            </a:r>
            <a:endParaRPr lang="en-US" sz="1100" dirty="0"/>
          </a:p>
        </p:txBody>
      </p:sp>
      <p:sp>
        <p:nvSpPr>
          <p:cNvPr id="8" name="Chart placeholder A"/>
          <p:cNvSpPr/>
          <p:nvPr/>
        </p:nvSpPr>
        <p:spPr>
          <a:xfrm>
            <a:off x="557784" y="2962656"/>
            <a:ext cx="2798064" cy="1947672"/>
          </a:xfrm>
          <a:prstGeom prst="rect">
            <a:avLst/>
          </a:prstGeom>
          <a:solidFill>
            <a:srgbClr val="FFFFFF">
              <a:alpha val="65000"/>
            </a:srgbClr>
          </a:solidFill>
          <a:ln w="12700">
            <a:solidFill>
              <a:srgbClr val="9B3739"/>
            </a:solidFill>
            <a:prstDash val="dash"/>
          </a:ln>
        </p:spPr>
      </p:sp>
      <p:sp>
        <p:nvSpPr>
          <p:cNvPr id="9" name="Chart placeholder text A"/>
          <p:cNvSpPr txBox="1"/>
          <p:nvPr/>
        </p:nvSpPr>
        <p:spPr>
          <a:xfrm>
            <a:off x="694944" y="2962656"/>
            <a:ext cx="2523744" cy="1947672"/>
          </a:xfrm>
          <a:prstGeom prst="rect">
            <a:avLst/>
          </a:prstGeom>
          <a:noFill/>
          <a:ln/>
        </p:spPr>
        <p:txBody>
          <a:bodyPr wrap="square" lIns="0" tIns="0" rIns="0" bIns="0" rtlCol="0" anchor="ctr"/>
          <a:lstStyle/>
          <a:p>
            <a:pPr algn="ctr" indent="0" marL="0">
              <a:buNone/>
            </a:pPr>
            <a:r>
              <a:rPr lang="en-US" sz="1100" b="1" dirty="0">
                <a:solidFill>
                  <a:srgbClr val="9B3739"/>
                </a:solidFill>
                <a:latin typeface="Times New Roman" pitchFamily="34" charset="0"/>
                <a:ea typeface="Times New Roman" pitchFamily="34" charset="-122"/>
                <a:cs typeface="Times New Roman" pitchFamily="34" charset="-120"/>
              </a:rPr>
              <a:t>Insert chart</a:t>
            </a:r>
            <a:endParaRPr lang="en-US" sz="1100" dirty="0"/>
          </a:p>
          <a:p>
            <a:pPr algn="ctr" indent="0" marL="0">
              <a:buNone/>
            </a:pPr>
            <a:r>
              <a:rPr lang="en-US" sz="900" i="1" dirty="0">
                <a:solidFill>
                  <a:srgbClr val="9B3739"/>
                </a:solidFill>
                <a:latin typeface="Times New Roman" pitchFamily="34" charset="0"/>
                <a:ea typeface="Times New Roman" pitchFamily="34" charset="-122"/>
                <a:cs typeface="Times New Roman" pitchFamily="34" charset="-120"/>
              </a:rPr>
              <a:t>Meta corporate, Hyperion, Oracle 10 year, El Paso, CoreWeave site</a:t>
            </a:r>
            <a:endParaRPr lang="en-US" sz="1100" dirty="0"/>
          </a:p>
        </p:txBody>
      </p:sp>
      <p:sp>
        <p:nvSpPr>
          <p:cNvPr id="10" name="Chart title B"/>
          <p:cNvSpPr txBox="1"/>
          <p:nvPr/>
        </p:nvSpPr>
        <p:spPr>
          <a:xfrm>
            <a:off x="3502152" y="2670048"/>
            <a:ext cx="2798064" cy="256032"/>
          </a:xfrm>
          <a:prstGeom prst="rect">
            <a:avLst/>
          </a:prstGeom>
          <a:noFill/>
          <a:ln/>
        </p:spPr>
        <p:txBody>
          <a:bodyPr wrap="square" lIns="0" tIns="0" rIns="0" bIns="0" rtlCol="0" anchor="ctr"/>
          <a:lstStyle/>
          <a:p>
            <a:pPr algn="ctr" indent="0" marL="0">
              <a:buNone/>
            </a:pPr>
            <a:r>
              <a:rPr lang="en-US" sz="1100" b="1" dirty="0">
                <a:solidFill>
                  <a:srgbClr val="000000"/>
                </a:solidFill>
                <a:latin typeface="Times New Roman" pitchFamily="34" charset="0"/>
                <a:ea typeface="Times New Roman" pitchFamily="34" charset="-122"/>
                <a:cs typeface="Times New Roman" pitchFamily="34" charset="-120"/>
              </a:rPr>
              <a:t>Hyperscaler Bond Issuance ($bn)</a:t>
            </a:r>
            <a:endParaRPr lang="en-US" sz="1100" dirty="0"/>
          </a:p>
        </p:txBody>
      </p:sp>
      <p:sp>
        <p:nvSpPr>
          <p:cNvPr id="11" name="Chart placeholder B"/>
          <p:cNvSpPr/>
          <p:nvPr/>
        </p:nvSpPr>
        <p:spPr>
          <a:xfrm>
            <a:off x="3502152" y="2962656"/>
            <a:ext cx="2798064" cy="1947672"/>
          </a:xfrm>
          <a:prstGeom prst="rect">
            <a:avLst/>
          </a:prstGeom>
          <a:solidFill>
            <a:srgbClr val="FFFFFF">
              <a:alpha val="65000"/>
            </a:srgbClr>
          </a:solidFill>
          <a:ln w="12700">
            <a:solidFill>
              <a:srgbClr val="9B3739"/>
            </a:solidFill>
            <a:prstDash val="dash"/>
          </a:ln>
        </p:spPr>
      </p:sp>
      <p:sp>
        <p:nvSpPr>
          <p:cNvPr id="12" name="Chart placeholder text B"/>
          <p:cNvSpPr txBox="1"/>
          <p:nvPr/>
        </p:nvSpPr>
        <p:spPr>
          <a:xfrm>
            <a:off x="3639312" y="2962656"/>
            <a:ext cx="2523744" cy="1947672"/>
          </a:xfrm>
          <a:prstGeom prst="rect">
            <a:avLst/>
          </a:prstGeom>
          <a:noFill/>
          <a:ln/>
        </p:spPr>
        <p:txBody>
          <a:bodyPr wrap="square" lIns="0" tIns="0" rIns="0" bIns="0" rtlCol="0" anchor="ctr"/>
          <a:lstStyle/>
          <a:p>
            <a:pPr algn="ctr" indent="0" marL="0">
              <a:buNone/>
            </a:pPr>
            <a:r>
              <a:rPr lang="en-US" sz="1100" b="1" dirty="0">
                <a:solidFill>
                  <a:srgbClr val="9B3739"/>
                </a:solidFill>
                <a:latin typeface="Times New Roman" pitchFamily="34" charset="0"/>
                <a:ea typeface="Times New Roman" pitchFamily="34" charset="-122"/>
                <a:cs typeface="Times New Roman" pitchFamily="34" charset="-120"/>
              </a:rPr>
              <a:t>Insert chart</a:t>
            </a:r>
            <a:endParaRPr lang="en-US" sz="1100" dirty="0"/>
          </a:p>
          <a:p>
            <a:pPr algn="ctr" indent="0" marL="0">
              <a:buNone/>
            </a:pPr>
            <a:r>
              <a:rPr lang="en-US" sz="900" i="1" dirty="0">
                <a:solidFill>
                  <a:srgbClr val="9B3739"/>
                </a:solidFill>
                <a:latin typeface="Times New Roman" pitchFamily="34" charset="0"/>
                <a:ea typeface="Times New Roman" pitchFamily="34" charset="-122"/>
                <a:cs typeface="Times New Roman" pitchFamily="34" charset="-120"/>
              </a:rPr>
              <a:t>2025 actual, 2026 YTD, 2026E, 2027E</a:t>
            </a:r>
            <a:endParaRPr lang="en-US" sz="1100" dirty="0"/>
          </a:p>
        </p:txBody>
      </p:sp>
      <p:sp>
        <p:nvSpPr>
          <p:cNvPr id="13" name="Heading Risk Considerations"/>
          <p:cNvSpPr txBox="1"/>
          <p:nvPr/>
        </p:nvSpPr>
        <p:spPr>
          <a:xfrm>
            <a:off x="557784" y="5001768"/>
            <a:ext cx="5742432"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Risk Considerations</a:t>
            </a:r>
            <a:endParaRPr lang="en-US" sz="2000" dirty="0"/>
          </a:p>
        </p:txBody>
      </p:sp>
      <p:sp>
        <p:nvSpPr>
          <p:cNvPr id="14" name="Risk body"/>
          <p:cNvSpPr txBox="1"/>
          <p:nvPr/>
        </p:nvSpPr>
        <p:spPr>
          <a:xfrm>
            <a:off x="557784" y="5385816"/>
            <a:ext cx="5742432" cy="109728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The structural risks are familiar to credit investors. Long dated bonds rest on leases to a single tenant, while the equipment inside the buildings turns over every three to five years, and Hyperion's lease has a four year initial term backed by a residual value guarantee from Meta. Before a campus operates, execution risk sits with lenders, as power, permitting, and local opposition can delay rent. Disclosure is limited, since the BIS notes much of this borrowing sits in private placement vehicles, and Moody's has flagged that short lease terms and residual value guarantees can understate effective obligations. The key divergence is between abundant capital and its rising price.</a:t>
            </a:r>
            <a:endParaRPr lang="en-US" sz="1050" dirty="0"/>
          </a:p>
        </p:txBody>
      </p:sp>
      <p:sp>
        <p:nvSpPr>
          <p:cNvPr id="15" name="Heading Meta SPVs Reprice"/>
          <p:cNvSpPr txBox="1"/>
          <p:nvPr/>
        </p:nvSpPr>
        <p:spPr>
          <a:xfrm>
            <a:off x="557784" y="6583680"/>
            <a:ext cx="2743200"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Meta SPVs Reprice</a:t>
            </a:r>
            <a:endParaRPr lang="en-US" sz="2000" dirty="0"/>
          </a:p>
        </p:txBody>
      </p:sp>
      <p:sp>
        <p:nvSpPr>
          <p:cNvPr id="16" name="Heading Oracle Under Pressure"/>
          <p:cNvSpPr txBox="1"/>
          <p:nvPr/>
        </p:nvSpPr>
        <p:spPr>
          <a:xfrm>
            <a:off x="3557016" y="6583680"/>
            <a:ext cx="2743200" cy="347472"/>
          </a:xfrm>
          <a:prstGeom prst="rect">
            <a:avLst/>
          </a:prstGeom>
          <a:noFill/>
          <a:ln/>
        </p:spPr>
        <p:txBody>
          <a:bodyPr wrap="square" lIns="0" tIns="0" rIns="0" bIns="0" rtlCol="0" anchor="ctr"/>
          <a:lstStyle/>
          <a:p>
            <a:pPr indent="0" marL="0">
              <a:buNone/>
            </a:pPr>
            <a:r>
              <a:rPr lang="en-US" sz="2000" dirty="0">
                <a:solidFill>
                  <a:srgbClr val="000000"/>
                </a:solidFill>
                <a:latin typeface="Times New Roman" pitchFamily="34" charset="0"/>
                <a:ea typeface="Times New Roman" pitchFamily="34" charset="-122"/>
                <a:cs typeface="Times New Roman" pitchFamily="34" charset="-120"/>
              </a:rPr>
              <a:t>Oracle Under Pressure</a:t>
            </a:r>
            <a:endParaRPr lang="en-US" sz="2000" dirty="0"/>
          </a:p>
        </p:txBody>
      </p:sp>
      <p:sp>
        <p:nvSpPr>
          <p:cNvPr id="17" name="Callout left body"/>
          <p:cNvSpPr txBox="1"/>
          <p:nvPr/>
        </p:nvSpPr>
        <p:spPr>
          <a:xfrm>
            <a:off x="557784" y="6995160"/>
            <a:ext cx="2743200" cy="228600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Meta has funded two campuses through joint ventures with private capital. Hyperion in Louisiana raised $27bn in October 2025 with A+ rated bonds priced at 6.58%. El Paso, a one gigawatt campus due online in 2028, followed in July with $12.55bn of A+ rated bonds due 2048 priced at 7.534%. Both place the debt at the project level behind a long lease to Meta. The higher cost on the same rating and the same tenant shows investors now charge for structure, supply, and duration.</a:t>
            </a:r>
            <a:endParaRPr lang="en-US" sz="1050" dirty="0"/>
          </a:p>
        </p:txBody>
      </p:sp>
      <p:sp>
        <p:nvSpPr>
          <p:cNvPr id="18" name="Callout right body"/>
          <p:cNvSpPr txBox="1"/>
          <p:nvPr/>
        </p:nvSpPr>
        <p:spPr>
          <a:xfrm>
            <a:off x="3557016" y="6995160"/>
            <a:ext cx="2743200" cy="2286000"/>
          </a:xfrm>
          <a:prstGeom prst="rect">
            <a:avLst/>
          </a:prstGeom>
          <a:noFill/>
          <a:ln/>
        </p:spPr>
        <p:txBody>
          <a:bodyPr wrap="square" lIns="0" tIns="0" rIns="0" bIns="0" rtlCol="0" anchor="t"/>
          <a:lstStyle/>
          <a:p>
            <a:pPr algn="just" indent="0" marL="0">
              <a:lnSpc>
                <a:spcPts val="1250"/>
              </a:lnSpc>
              <a:buNone/>
            </a:pPr>
            <a:r>
              <a:rPr lang="en-US" sz="1050" dirty="0">
                <a:solidFill>
                  <a:srgbClr val="000000"/>
                </a:solidFill>
                <a:latin typeface="Times New Roman" pitchFamily="34" charset="0"/>
                <a:ea typeface="Times New Roman" pitchFamily="34" charset="-122"/>
                <a:cs typeface="Times New Roman" pitchFamily="34" charset="-120"/>
              </a:rPr>
              <a:t>S&amp;P cut Oracle to BBB- on July 9, citing cash burn from its AI buildout, and said another downgrade is possible if leverage stays above 4.5x. Oracle raised roughly $43bn of debt in fiscal 2026. In September, about $18bn of bank loans tied to its Project Jupiter campus in New Mexico were quoted at 89 to 91 cents on the dollar, and Oracle sent a force majeure notice to the developer, a Blue Owl unit, citing power delays. A source told Reuters Oracle cannot terminate the lease and remains responsible for debt costs, and Oracle says the project is on schedule.</a:t>
            </a:r>
            <a:endParaRPr lang="en-US" sz="1050" dirty="0"/>
          </a:p>
        </p:txBody>
      </p:sp>
      <p:sp>
        <p:nvSpPr>
          <p:cNvPr id="19" name="Sources"/>
          <p:cNvSpPr txBox="1"/>
          <p:nvPr/>
        </p:nvSpPr>
        <p:spPr>
          <a:xfrm>
            <a:off x="457200" y="9381744"/>
            <a:ext cx="5943600" cy="201168"/>
          </a:xfrm>
          <a:prstGeom prst="rect">
            <a:avLst/>
          </a:prstGeom>
          <a:noFill/>
          <a:ln/>
        </p:spPr>
        <p:txBody>
          <a:bodyPr wrap="square" lIns="0" tIns="0" rIns="0" bIns="0" rtlCol="0" anchor="t"/>
          <a:lstStyle/>
          <a:p>
            <a:pPr indent="0" marL="0">
              <a:buNone/>
            </a:pPr>
            <a:r>
              <a:rPr lang="en-US" sz="750" dirty="0">
                <a:solidFill>
                  <a:srgbClr val="000000"/>
                </a:solidFill>
                <a:latin typeface="Times New Roman" pitchFamily="34" charset="0"/>
                <a:ea typeface="Times New Roman" pitchFamily="34" charset="-122"/>
                <a:cs typeface="Times New Roman" pitchFamily="34" charset="-120"/>
              </a:rPr>
              <a:t>Sources: Bloomberg, Reuters, LSEG, S&amp;P Global Ratings, Financial Times, BIS, Moody's, Capacity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LLC Case Study, AI Infrastructure Financing</dc:title>
  <dc:subject>PptxGenJS Presentation</dc:subject>
  <dc:creator>Leveraged Lion Capital</dc:creator>
  <cp:lastModifiedBy>Leveraged Lion Capital</cp:lastModifiedBy>
  <cp:revision>1</cp:revision>
  <dcterms:created xsi:type="dcterms:W3CDTF">2026-10-06T01:09:24Z</dcterms:created>
  <dcterms:modified xsi:type="dcterms:W3CDTF">2026-10-06T01:09:24Z</dcterms:modified>
</cp:coreProperties>
</file>