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6858000" cy="9905695"/>
  <p:notesSz cx="9905695" cy="685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Project Bond Yields by Tenant (%)</c:v>
                </c:pt>
              </c:strCache>
            </c:strRef>
          </c:tx>
          <c:spPr>
            <a:solidFill>
              <a:srgbClr val="9A3839"/>
            </a:solidFill>
            <a:effectLst/>
          </c:spPr>
          <c:invertIfNegative val="0"/>
          <c:dLbls>
            <c:numFmt formatCode="0.0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dPt>
            <c:idx val="0"/>
            <c:invertIfNegative val="0"/>
            <c:bubble3D val="0"/>
            <c:spPr>
              <a:solidFill>
                <a:srgbClr val="9A3839"/>
              </a:solidFill>
              <a:effectLst/>
            </c:spPr>
          </c:dPt>
          <c:dPt>
            <c:idx val="1"/>
            <c:invertIfNegative val="0"/>
            <c:bubble3D val="0"/>
            <c:spPr>
              <a:solidFill>
                <a:srgbClr val="4F1D1B"/>
              </a:solidFill>
              <a:effectLst/>
            </c:spPr>
          </c:dPt>
          <c:dPt>
            <c:idx val="2"/>
            <c:invertIfNegative val="0"/>
            <c:bubble3D val="0"/>
            <c:spPr>
              <a:solidFill>
                <a:srgbClr val="CD6661"/>
              </a:solidFill>
              <a:effectLst/>
            </c:spPr>
          </c:dPt>
          <c:dPt>
            <c:idx val="3"/>
            <c:invertIfNegative val="0"/>
            <c:bubble3D val="0"/>
            <c:spPr>
              <a:solidFill>
                <a:srgbClr val="E0BCBC"/>
              </a:solidFill>
              <a:effectLst/>
            </c:spPr>
          </c:dPt>
          <c:cat>
            <c:multiLvlStrRef>
              <c:f>Sheet1!$A$2:$A$5</c:f>
              <c:multiLvlStrCache>
                <c:ptCount val="4"/>
                <c:lvl>
                  <c:pt idx="0">
                    <c:v>Beacon Point, AA- tenant (Jun 2026)</c:v>
                  </c:pt>
                  <c:pt idx="1">
                    <c:v>Hyperion, Meta (Oct 2025)</c:v>
                  </c:pt>
                  <c:pt idx="2">
                    <c:v>El Paso, Meta (Jul 2026)</c:v>
                  </c:pt>
                  <c:pt idx="3">
                    <c:v>Digital Drive, CoreWeave (Sep 2026)</c:v>
                  </c:pt>
                </c:lvl>
              </c:multiLvlStrCache>
            </c:multiLvlStrRef>
          </c:cat>
          <c:val>
            <c:numRef>
              <c:f>Sheet1!$B$2:$B$5</c:f>
              <c:numCache>
                <c:formatCode>General</c:formatCode>
                <c:ptCount val="4"/>
                <c:pt idx="0">
                  <c:v>6.129</c:v>
                </c:pt>
                <c:pt idx="1">
                  <c:v>6.581</c:v>
                </c:pt>
                <c:pt idx="2">
                  <c:v>7.534</c:v>
                </c:pt>
                <c:pt idx="3">
                  <c:v>9.25</c:v>
                </c:pt>
              </c:numCache>
            </c:numRef>
          </c:val>
        </c:ser>
        <c:dLbls>
          <c:numFmt formatCode="0.0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GPU Loan Spreads (bps over SOFR)</c:v>
                </c:pt>
              </c:strCache>
            </c:strRef>
          </c:tx>
          <c:spPr>
            <a:solidFill>
              <a:srgbClr val="9A3839"/>
            </a:solidFill>
            <a:effectLst/>
          </c:spPr>
          <c:invertIfNegative val="0"/>
          <c:dLbls>
            <c:numFmt formatCode="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dPt>
            <c:idx val="0"/>
            <c:invertIfNegative val="0"/>
            <c:bubble3D val="0"/>
            <c:spPr>
              <a:solidFill>
                <a:srgbClr val="9A3839"/>
              </a:solidFill>
              <a:effectLst/>
            </c:spPr>
          </c:dPt>
          <c:dPt>
            <c:idx val="1"/>
            <c:invertIfNegative val="0"/>
            <c:bubble3D val="0"/>
            <c:spPr>
              <a:solidFill>
                <a:srgbClr val="4F1D1B"/>
              </a:solidFill>
              <a:effectLst/>
            </c:spPr>
          </c:dPt>
          <c:dPt>
            <c:idx val="2"/>
            <c:invertIfNegative val="0"/>
            <c:bubble3D val="0"/>
            <c:spPr>
              <a:solidFill>
                <a:srgbClr val="CD6661"/>
              </a:solidFill>
              <a:effectLst/>
            </c:spPr>
          </c:dPt>
          <c:dPt>
            <c:idx val="3"/>
            <c:invertIfNegative val="0"/>
            <c:bubble3D val="0"/>
            <c:spPr>
              <a:solidFill>
                <a:srgbClr val="E0BCBC"/>
              </a:solidFill>
              <a:effectLst/>
            </c:spPr>
          </c:dPt>
          <c:dPt>
            <c:idx val="4"/>
            <c:invertIfNegative val="0"/>
            <c:bubble3D val="0"/>
            <c:spPr>
              <a:solidFill>
                <a:srgbClr val="7A2A28"/>
              </a:solidFill>
              <a:effectLst/>
            </c:spPr>
          </c:dPt>
          <c:cat>
            <c:multiLvlStrRef>
              <c:f>Sheet1!$A$2:$A$6</c:f>
              <c:multiLvlStrCache>
                <c:ptCount val="5"/>
                <c:lvl>
                  <c:pt idx="0">
                    <c:v>CoreWeave DDTL 4.0, Meta (A3)</c:v>
                  </c:pt>
                  <c:pt idx="1">
                    <c:v>Lambda TLB, IG offtaker (Baa2)</c:v>
                  </c:pt>
                  <c:pt idx="2">
                    <c:v>CoreWeave DDTL 3.0, OpenAI</c:v>
                  </c:pt>
                  <c:pt idx="3">
                    <c:v>CoreWeave DDTL 5.0 (Ba2)</c:v>
                  </c:pt>
                  <c:pt idx="4">
                    <c:v>CoreWeave DDTL 5.5 (Ba2)</c:v>
                  </c:pt>
                </c:lvl>
              </c:multiLvlStrCache>
            </c:multiLvlStrRef>
          </c:cat>
          <c:val>
            <c:numRef>
              <c:f>Sheet1!$B$2:$B$6</c:f>
              <c:numCache>
                <c:formatCode>General</c:formatCode>
                <c:ptCount val="5"/>
                <c:pt idx="0">
                  <c:v>225</c:v>
                </c:pt>
                <c:pt idx="1">
                  <c:v>300</c:v>
                </c:pt>
                <c:pt idx="2">
                  <c:v>400</c:v>
                </c:pt>
                <c:pt idx="3">
                  <c:v>450</c:v>
                </c:pt>
                <c:pt idx="4">
                  <c:v>550</c:v>
                </c:pt>
              </c:numCache>
            </c:numRef>
          </c:val>
        </c:ser>
        <c:dLbls>
          <c:numFmt formatCode="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photo is the glass towers image from the March BDC cover, used as a stand in. Swap in a fresh photo before publishing. Keep the 7.5 x 10.83 inch frame and the maroon box position so it lines up with the other covers. The cover is page 4 in the full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5 CHART IDEAS AND LINKS
Slots hold charts D and B. Data lives in data/chart_data.json. Set verified to true after the fact checker confirms the numbers and the chart renders natively.
CHART D (Page 5, left)
Leverage by Financing Route (%)
Horizontal bar, maroon shades, highest leverage on top
  Hut 8 Beacon Point bonds, loan to cost  |  95  |  Hut 8 and counsel via press
  Oracle Saline SPV bonds, loan to cost  |  about 85 (derived from 15% equity)  |  Related Digital and Blackstone releases
  Aligned data center ABS, loan to value  |  70.0  |  Aligned release, S&amp;P presale
  xAI chip vehicle, advance on purchase  |  about 65 (derived, $3.5bn of $5.4bn)  |  Apollo release
  Stargate Abilene bank loans, loan to cost  |  about 64 (derived, $9.6bn of about $15bn)  |  Trade press
Three of five bars are derived. Keep the footnote that says so, or swap them for bars with a stated ratio (for example Vantage UK ABS at 53.6% LTV).
  Beacon Point 95% loan to cost https://investingnews.com/hut-8-closes-4-25-billion-of-investment-grade-senior-secured-notes-for-beacon-point-data-center-project/
  Saline financing https://www.related.com/press-releases/2026-04-24/related-digital-announces-financing-16-billion-oracle-data-center-project
  Aligned ABS https://www.globenewswire.com/news-release/2026/07/28/3334210/0/en/Aligned-Data-Centers-Completes-1-18-Billion-Securitization-Financing.html
  Apollo and Valor xAI financing https://www.apollo.com/insights-news/pressreleases/2026/01/apollo-backs-5-4-billion-valor-and-xai-data-center-compute-infrastructure-transaction-with-3-5-billion-capital-solution-3214463
  Abilene construction loan https://www.costar.com/article/1387166843/first-stargate-data-center-project-lands-7-1-billion-construction-loan
  KBRA on BX 2026 VLT10 (108.4% KBRA LTV) https://www.businesswire.com/news/home/20260603885897/en/KBRA-Assigns-Preliminary-Ratings-to-BX-2026-VLT10
CHART B (Page 5, right)
Hyperscaler Bond Issuance ($bn)
Column chart, estimate bars shaded lighter
  2025 full year (Amazon, Alphabet, Meta, Oracle)  |  about 108  |  Reuters and LSEG
  2026 to date (same four issuers)  |  about 223  |  LSEG via CNBC
  2026 estimate (five hyperscalers)  |  about 250  |  Goldman Sachs via Reuters
  2027 estimate (five hyperscalers)  |  about 400  |  Goldman Sachs via Reuters
The to date figure runs through late August. Morgan Stanley reported no hyperscaler USD IG deals in September, but only through an aggregator. Refresh with an LSEG pull before publishing.
  Reuters analysis of LSEG data https://www.investing.com/news/stock-market-news/hyperscaler-debt-binge-pushes-yields-up-as-investor-demand-cools-4820617
  CNBC on data center bond yields https://www.cnbc.com/2026/09/27/debt-hungry-data-center-companies-increased-risk-bond-yields-spike.html
LAYOUT NOTE
Body is Times New Roman 10.5 pt justified, section headings 20 pt, title 26 pt bold, matching the August case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6 DEAL TABLE
Every cell must match reviews/fact-check.md. Derived figures (Saline loan to cost) are labeled in the table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7 CHART IDEAS AND LINKS
Slots hold charts C and A.
CHART C (Page 7, left)
Project Bond Yields by Tenant (%)
Horizontal bar, tenant and pricing month in each label
  Hut 8 Beacon Point, AA- or better tenant  |  6.129 (T+165), Jun 2026  |  Hut 8 via press
  Meta Hyperion, A+  |  6.581 (T+225), Oct 2025  |  IFR
  Meta El Paso, A+  |  7.534 (T+287.5), Jul 2026  |  PitchBook
  Digital Drive, CoreWeave tenant, BB-  |  9.25 yield at 98.5, Sep 2026  |  Bloomberg
Pricing dates differ, so the spreads are the cleaner comparison. Digital Drive has no Treasury spread on record, only about 270bps over similarly rated debt.
  El Paso pricing https://pitchbook.com/news/articles/investors-flock-to-12-5b-data-center-bond-deal-for-blackrock-sponsored-sopaipilla
  Hyperion structure and pricing https://www.ifre.com/ifr-awards/2340435/the-metablue-owl-deal-broken-down-off-balance-sheet-gymnastics-24-years-after-enron
  Digital Drive notes https://www.bloomberg.com/news/articles/2026-09-23/coreweave-tied-data-center-raises-1-1-billion-in-junk-bonds
  Beacon Point notes https://investingnews.com/hut-8-closes-4-25-billion-of-investment-grade-senior-secured-notes-for-beacon-point-data-center-project/
CHART A (Page 7, right)
GPU Loan Spreads (bps over SOFR)
Horizontal bar, counterparty and rating in each label
  CoreWeave DDTL 4.0, Meta contract, A3  |  225  |  CoreWeave release
  Lambda term loan B, IG offtaker, Baa2  |  300  |  Lambda release
  CoreWeave DDTL 3.0, OpenAI contract  |  400  |  CoreWeave release
  CoreWeave DDTL 5.0, Ba2 and BB+  |  450  |  CoreWeave release
  CoreWeave DDTL 5.5, Ba2 and BB+  |  550  |  CoreWeave 8-K exhibit
DDTL 4.0's SOFR plus 225 appears in the company release per the research notes, but one research pass rated it aggregator only. Confirm in the release before verifying.
  DDTL 3.0 https://investors.coreweave.com/news/news-details/2025/CoreWeave-Closes-2-6-Billion-Secured-Debt-Financing-Facility-Strengthening-Market-Position-as-AI-Cloud-Leader/default.aspx
  DDTL 4.0 https://investors.coreweave.com/news/news-details/2026/CoreWeave-Closes-Landmark-8-5-Billion-Financing-Facility-Achieving-First-Investment-Grade-Rated-GPU-backed-Financing/default.aspx
  DDTL 5.0 https://www.businesswire.com/news/home/20260518337916/en/
  DDTL 5.5 https://www.sec.gov/Archives/edgar/data/1769628/000176962826000357/ex991pr.htm
  Lambda TLB https://lambda.ai/blog/lambda-prices-926-million-senior-secured-term-loan-b-facility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LC_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LC_CASE_PAGE">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4069080" y="182880"/>
            <a:ext cx="2103120" cy="411480"/>
          </a:xfrm>
          <a:prstGeom prst="rect">
            <a:avLst/>
          </a:prstGeom>
          <a:noFill/>
          <a:ln/>
        </p:spPr>
        <p:txBody>
          <a:bodyPr wrap="square" lIns="0" tIns="0" rIns="0" bIns="0" rtlCol="0" anchor="ctr"/>
          <a:lstStyle/>
          <a:p>
            <a:pPr algn="r" indent="0" marL="0">
              <a:buNone/>
            </a:pPr>
            <a:r>
              <a:rPr lang="en-US" sz="2600" dirty="0">
                <a:solidFill>
                  <a:srgbClr val="5A2020"/>
                </a:solidFill>
                <a:latin typeface="Times New Roman" pitchFamily="34" charset="0"/>
                <a:ea typeface="Times New Roman" pitchFamily="34" charset="-122"/>
                <a:cs typeface="Times New Roman" pitchFamily="34" charset="-120"/>
              </a:rPr>
              <a:t>L | L | C</a:t>
            </a:r>
            <a:endParaRPr lang="en-US" sz="2600" dirty="0"/>
          </a:p>
        </p:txBody>
      </p:sp>
      <p:sp>
        <p:nvSpPr>
          <p:cNvPr id="3" name="Shape 1"/>
          <p:cNvSpPr/>
          <p:nvPr/>
        </p:nvSpPr>
        <p:spPr>
          <a:xfrm>
            <a:off x="457200" y="9345168"/>
            <a:ext cx="5943600" cy="0"/>
          </a:xfrm>
          <a:prstGeom prst="line">
            <a:avLst/>
          </a:prstGeom>
          <a:noFill/>
          <a:ln w="9525">
            <a:solidFill>
              <a:srgbClr val="5A2020"/>
            </a:solidFill>
            <a:prstDash val="solid"/>
          </a:ln>
        </p:spPr>
      </p:sp>
      <p:pic>
        <p:nvPicPr>
          <p:cNvPr id="4" name="Image 0" descr="/home/user/LLC-Research-Monthly-File/assets/footer_bar.png">    </p:cNvPr>
          <p:cNvPicPr>
            <a:picLocks noChangeAspect="1"/>
          </p:cNvPicPr>
          <p:nvPr/>
        </p:nvPicPr>
        <p:blipFill>
          <a:blip r:embed="rId1"/>
          <a:stretch>
            <a:fillRect/>
          </a:stretch>
        </p:blipFill>
        <p:spPr>
          <a:xfrm>
            <a:off x="0" y="9692640"/>
            <a:ext cx="6858000" cy="213055"/>
          </a:xfrm>
          <a:prstGeom prst="rect">
            <a:avLst/>
          </a:prstGeom>
        </p:spPr>
      </p:pic>
      <p:sp>
        <p:nvSpPr>
          <p:cNvPr id="5" name="Text 2"/>
          <p:cNvSpPr/>
          <p:nvPr>
            <p:ph idx="103" type="title" hasCustomPrompt="1"/>
          </p:nvPr>
        </p:nvSpPr>
        <p:spPr>
          <a:xfrm>
            <a:off x="557784" y="566928"/>
            <a:ext cx="5303520" cy="457200"/>
          </a:xfrm>
          <a:prstGeom prst="rect">
            <a:avLst/>
          </a:prstGeom>
          <a:noFill/>
          <a:ln/>
        </p:spPr>
        <p:txBody>
          <a:bodyPr wrap="square" rtlCol="0"/>
          <a:lstStyle>
            <a:lvl1pPr algn="l" indent="0" marL="0">
              <a:buNone/>
              <a:defRPr lang="en-US" sz="2600" b="1" dirty="0">
                <a:solidFill>
                  <a:srgbClr val="000000"/>
                </a:solidFill>
                <a:latin typeface="Times New Roman" pitchFamily="34" charset="0"/>
                <a:ea typeface="Times New Roman" pitchFamily="34" charset="-122"/>
                <a:cs typeface="Times New Roman" pitchFamily="34" charset="-120"/>
              </a:defRPr>
            </a:lvl1pPr>
          </a:lstStyle>
          <a:p>
            <a:pPr algn="l" indent="0" marL="0">
              <a:buNone/>
            </a:pPr>
            <a:endParaRPr lang="en-US" sz="2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photo" descr="Glass office towers seen from below">    </p:cNvPr>
          <p:cNvPicPr>
            <a:picLocks noChangeAspect="1"/>
          </p:cNvPicPr>
          <p:nvPr/>
        </p:nvPicPr>
        <p:blipFill>
          <a:blip r:embed="rId1"/>
          <a:stretch>
            <a:fillRect/>
          </a:stretch>
        </p:blipFill>
        <p:spPr>
          <a:xfrm>
            <a:off x="0" y="0"/>
            <a:ext cx="6858000" cy="9905695"/>
          </a:xfrm>
          <a:prstGeom prst="rect">
            <a:avLst/>
          </a:prstGeom>
        </p:spPr>
      </p:pic>
      <p:sp>
        <p:nvSpPr>
          <p:cNvPr id="3" name="Cover box"/>
          <p:cNvSpPr/>
          <p:nvPr/>
        </p:nvSpPr>
        <p:spPr>
          <a:xfrm>
            <a:off x="0" y="2423160"/>
            <a:ext cx="4041648" cy="1965960"/>
          </a:xfrm>
          <a:prstGeom prst="rect">
            <a:avLst/>
          </a:prstGeom>
          <a:solidFill>
            <a:srgbClr val="4F1D1B">
              <a:alpha val="94000"/>
            </a:srgbClr>
          </a:solidFill>
          <a:ln w="12700">
            <a:solidFill>
              <a:srgbClr val="4F1D1B"/>
            </a:solidFill>
            <a:prstDash val="solid"/>
          </a:ln>
        </p:spPr>
      </p:sp>
      <p:sp>
        <p:nvSpPr>
          <p:cNvPr id="4" name="Cover logo"/>
          <p:cNvSpPr txBox="1"/>
          <p:nvPr/>
        </p:nvSpPr>
        <p:spPr>
          <a:xfrm>
            <a:off x="0" y="2542032"/>
            <a:ext cx="4041648" cy="731520"/>
          </a:xfrm>
          <a:prstGeom prst="rect">
            <a:avLst/>
          </a:prstGeom>
          <a:noFill/>
          <a:ln/>
        </p:spPr>
        <p:txBody>
          <a:bodyPr wrap="square" lIns="0" tIns="0" rIns="0" bIns="0" rtlCol="0" anchor="ctr"/>
          <a:lstStyle/>
          <a:p>
            <a:pPr algn="ctr" indent="0" marL="0">
              <a:buNone/>
            </a:pPr>
            <a:r>
              <a:rPr lang="en-US" sz="4400" dirty="0">
                <a:solidFill>
                  <a:srgbClr val="FFFFFF"/>
                </a:solidFill>
                <a:latin typeface="Times New Roman" pitchFamily="34" charset="0"/>
                <a:ea typeface="Times New Roman" pitchFamily="34" charset="-122"/>
                <a:cs typeface="Times New Roman" pitchFamily="34" charset="-120"/>
              </a:rPr>
              <a:t>L | L | C</a:t>
            </a:r>
            <a:endParaRPr lang="en-US" sz="4400" dirty="0"/>
          </a:p>
        </p:txBody>
      </p:sp>
      <p:sp>
        <p:nvSpPr>
          <p:cNvPr id="5" name="Cover firm"/>
          <p:cNvSpPr txBox="1"/>
          <p:nvPr/>
        </p:nvSpPr>
        <p:spPr>
          <a:xfrm>
            <a:off x="0" y="3246120"/>
            <a:ext cx="4041648" cy="320040"/>
          </a:xfrm>
          <a:prstGeom prst="rect">
            <a:avLst/>
          </a:prstGeom>
          <a:noFill/>
          <a:ln/>
        </p:spPr>
        <p:txBody>
          <a:bodyPr wrap="square" lIns="0" tIns="0" rIns="0" bIns="0" rtlCol="0" anchor="ctr"/>
          <a:lstStyle/>
          <a:p>
            <a:pPr algn="ctr" indent="0" marL="0">
              <a:buNone/>
            </a:pPr>
            <a:r>
              <a:rPr lang="en-US" sz="1700" dirty="0">
                <a:solidFill>
                  <a:srgbClr val="FFFFFF"/>
                </a:solidFill>
                <a:latin typeface="Times New Roman" pitchFamily="34" charset="0"/>
                <a:ea typeface="Times New Roman" pitchFamily="34" charset="-122"/>
                <a:cs typeface="Times New Roman" pitchFamily="34" charset="-120"/>
              </a:rPr>
              <a:t>Leveraged Lion Capital</a:t>
            </a:r>
            <a:endParaRPr lang="en-US" sz="1700" dirty="0"/>
          </a:p>
        </p:txBody>
      </p:sp>
      <p:sp>
        <p:nvSpPr>
          <p:cNvPr id="6" name="Cover rule"/>
          <p:cNvSpPr/>
          <p:nvPr/>
        </p:nvSpPr>
        <p:spPr>
          <a:xfrm>
            <a:off x="448056" y="3630168"/>
            <a:ext cx="3145536" cy="0"/>
          </a:xfrm>
          <a:prstGeom prst="line">
            <a:avLst/>
          </a:prstGeom>
          <a:noFill/>
          <a:ln w="9525">
            <a:solidFill>
              <a:srgbClr val="FFFFFF"/>
            </a:solidFill>
            <a:prstDash val="solid"/>
          </a:ln>
        </p:spPr>
      </p:sp>
      <p:sp>
        <p:nvSpPr>
          <p:cNvPr id="7" name="Cover title"/>
          <p:cNvSpPr txBox="1"/>
          <p:nvPr/>
        </p:nvSpPr>
        <p:spPr>
          <a:xfrm>
            <a:off x="0" y="3703320"/>
            <a:ext cx="4041648" cy="640080"/>
          </a:xfrm>
          <a:prstGeom prst="rect">
            <a:avLst/>
          </a:prstGeom>
          <a:noFill/>
          <a:ln/>
        </p:spPr>
        <p:txBody>
          <a:bodyPr wrap="square" lIns="0" tIns="0" rIns="0" bIns="0" rtlCol="0" anchor="ctr"/>
          <a:lstStyle/>
          <a:p>
            <a:pPr algn="ctr" indent="0" marL="0">
              <a:buNone/>
            </a:pPr>
            <a:r>
              <a:rPr lang="en-US" sz="1700" dirty="0">
                <a:solidFill>
                  <a:srgbClr val="FFFFFF"/>
                </a:solidFill>
                <a:latin typeface="Times New Roman" pitchFamily="34" charset="0"/>
                <a:ea typeface="Times New Roman" pitchFamily="34" charset="-122"/>
                <a:cs typeface="Times New Roman" pitchFamily="34" charset="-120"/>
              </a:rPr>
              <a:t>Case Study</a:t>
            </a:r>
            <a:endParaRPr lang="en-US" sz="1700" dirty="0"/>
          </a:p>
          <a:p>
            <a:pPr algn="ctr" indent="0" marL="0">
              <a:buNone/>
            </a:pPr>
            <a:r>
              <a:rPr lang="en-US" sz="1700" dirty="0">
                <a:solidFill>
                  <a:srgbClr val="FFFFFF"/>
                </a:solidFill>
                <a:latin typeface="Times New Roman" pitchFamily="34" charset="0"/>
                <a:ea typeface="Times New Roman" pitchFamily="34" charset="-122"/>
                <a:cs typeface="Times New Roman" pitchFamily="34" charset="-120"/>
              </a:rPr>
              <a:t>AI Infrastructure Financing</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57784" y="566928"/>
            <a:ext cx="5303520" cy="457200"/>
          </a:xfrm>
          <a:prstGeom prst="rect">
            <a:avLst/>
          </a:prstGeom>
          <a:noFill/>
          <a:ln/>
        </p:spPr>
        <p:txBody>
          <a:bodyPr wrap="square" lIns="0" tIns="0" rIns="0" bIns="0" rtlCol="0" anchor="ctr"/>
          <a:lstStyle/>
          <a:p>
            <a:pPr algn="l" indent="0" marL="0">
              <a:buNone/>
            </a:pPr>
            <a:r>
              <a:rPr lang="en-US" sz="2600" b="1" dirty="0">
                <a:solidFill>
                  <a:srgbClr val="000000"/>
                </a:solidFill>
                <a:latin typeface="Times New Roman" pitchFamily="34" charset="0"/>
                <a:ea typeface="Times New Roman" pitchFamily="34" charset="-122"/>
                <a:cs typeface="Times New Roman" pitchFamily="34" charset="-120"/>
              </a:rPr>
              <a:t>AI Infrastructure Financing</a:t>
            </a:r>
            <a:endParaRPr lang="en-US" sz="2600" dirty="0"/>
          </a:p>
        </p:txBody>
      </p:sp>
      <p:sp>
        <p:nvSpPr>
          <p:cNvPr id="3" name="Page number box"/>
          <p:cNvSpPr/>
          <p:nvPr/>
        </p:nvSpPr>
        <p:spPr>
          <a:xfrm>
            <a:off x="6364224" y="246888"/>
            <a:ext cx="329184" cy="246888"/>
          </a:xfrm>
          <a:prstGeom prst="rect">
            <a:avLst/>
          </a:prstGeom>
          <a:solidFill>
            <a:srgbClr val="5A2020"/>
          </a:solidFill>
          <a:ln w="12700">
            <a:solidFill>
              <a:srgbClr val="5A2020"/>
            </a:solidFill>
            <a:prstDash val="solid"/>
          </a:ln>
        </p:spPr>
      </p:sp>
      <p:sp>
        <p:nvSpPr>
          <p:cNvPr id="4" name="Page number"/>
          <p:cNvSpPr txBox="1"/>
          <p:nvPr/>
        </p:nvSpPr>
        <p:spPr>
          <a:xfrm>
            <a:off x="6364224" y="246888"/>
            <a:ext cx="329184"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5</a:t>
            </a:r>
            <a:endParaRPr lang="en-US" sz="1100" dirty="0"/>
          </a:p>
        </p:txBody>
      </p:sp>
      <p:sp>
        <p:nvSpPr>
          <p:cNvPr id="5" name="Heading Overview"/>
          <p:cNvSpPr txBox="1"/>
          <p:nvPr/>
        </p:nvSpPr>
        <p:spPr>
          <a:xfrm>
            <a:off x="557784" y="100584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Overview</a:t>
            </a:r>
            <a:endParaRPr lang="en-US" sz="2000" dirty="0"/>
          </a:p>
        </p:txBody>
      </p:sp>
      <p:sp>
        <p:nvSpPr>
          <p:cNvPr id="6" name="Overview body"/>
          <p:cNvSpPr txBox="1"/>
          <p:nvPr/>
        </p:nvSpPr>
        <p:spPr>
          <a:xfrm>
            <a:off x="557784" y="1371600"/>
            <a:ext cx="5742432" cy="164592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AI infrastructure financing is the debt raised to build data centers and the computing equipment inside them, and in 2026 it has become one of the largest sources of new supply in credit. Lenders reach the same assets through five routes. Hyperscalers borrow directly in the investment grade market on their corporate ratings. Joint ventures issue project bonds secured by a lease to a hyperscaler, as with Meta's $27.3bn Hyperion financing, where Blue Owl owns 80% of the vehicle and the A+ rated bonds amortize to 2049. Developers take construction loans against leases to Oracle and OpenAI, before any rent is paid. Neoclouds such as CoreWeave borrow against GPUs and the customer contracts that pay for them. Stabilized campuses are refinanced through data center ABS and CMBS once rent is flowing. In every route the lender is underwriting the tenant, and agencies start from the tenant's rating and subtract notches for construction, lease length, and operator risk.</a:t>
            </a:r>
            <a:endParaRPr lang="en-US" sz="1050" dirty="0"/>
          </a:p>
        </p:txBody>
      </p:sp>
      <p:sp>
        <p:nvSpPr>
          <p:cNvPr id="7" name="Heading How Lenders Size the Debt"/>
          <p:cNvSpPr txBox="1"/>
          <p:nvPr/>
        </p:nvSpPr>
        <p:spPr>
          <a:xfrm>
            <a:off x="557784" y="3035808"/>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How Lenders Size the Debt</a:t>
            </a:r>
            <a:endParaRPr lang="en-US" sz="2000" dirty="0"/>
          </a:p>
        </p:txBody>
      </p:sp>
      <p:sp>
        <p:nvSpPr>
          <p:cNvPr id="8" name="Lender sizing body"/>
          <p:cNvSpPr txBox="1"/>
          <p:nvPr/>
        </p:nvSpPr>
        <p:spPr>
          <a:xfrm>
            <a:off x="557784" y="3401568"/>
            <a:ext cx="5742432" cy="169164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Lease backed debt is sized so contracted rent covers debt service with a thin cushion and bonds amortize before the lease and its renewals run out, so leverage rises with tenant strength. Hut 8's $4.25bn Beacon Point bonds, backed by a tenant rated AA- or better, financed 95% of project cost at T+165, which Hut 8 calls the highest loan to cost for an HPC data center bond. Oracle's Saline Township campus in Michigan raised about $14bn of bonds against $16.3bn of cost, or roughly 15% equity. Stabilized campuses are sized on value, and Aligned's ABS master trust, which added $1.18bn in July, caps senior notes at 70% of appraised value. GPU lenders lend less against depreciating collateral, and Apollo's $3.5bn for the xAI chip leasing vehicle equals about 65% of a $5.4bn purchase. KBRA cut the cash flow on the single tenant Ohio campus behind BX 2026 VLT10 to 18.9% below the issuer's figure and its value to 27.2% below appraisal, lifting leverage on the $1.26bn loan to 108.4%.</a:t>
            </a:r>
            <a:endParaRPr lang="en-US" sz="1050" dirty="0"/>
          </a:p>
        </p:txBody>
      </p:sp>
      <p:sp>
        <p:nvSpPr>
          <p:cNvPr id="9" name="Heading Why It Matters for Credit"/>
          <p:cNvSpPr txBox="1"/>
          <p:nvPr/>
        </p:nvSpPr>
        <p:spPr>
          <a:xfrm>
            <a:off x="557784" y="5138928"/>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Why It Matters for Credit</a:t>
            </a:r>
            <a:endParaRPr lang="en-US" sz="2000" dirty="0"/>
          </a:p>
        </p:txBody>
      </p:sp>
      <p:sp>
        <p:nvSpPr>
          <p:cNvPr id="10" name="Why it matters body"/>
          <p:cNvSpPr txBox="1"/>
          <p:nvPr/>
        </p:nvSpPr>
        <p:spPr>
          <a:xfrm>
            <a:off x="557784" y="5504688"/>
            <a:ext cx="5742432" cy="118872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The debt is only as long as the lease behind it, and hyperscaler leases are short. Hyperion and El Paso both carry four year initial terms against bonds amortizing to 2049 and 2048, and Meta's residual value guarantee on Hyperion, about $28bn and covering the first 16 years, bridges the gap. Moody's counted $662bn of hyperscaler data center leases not yet commenced at the end of 2025, held off balance sheet and equal to 113% of their adjusted debt, and says it will treat part as debt, while S&amp;P accepted Hyperion as off balance sheet for Meta. The divergence is that one obligation is a lease to one agency and debt to another, so a tenant downgrade passes straight through.</a:t>
            </a:r>
            <a:endParaRPr lang="en-US" sz="1050" dirty="0"/>
          </a:p>
        </p:txBody>
      </p:sp>
      <p:sp>
        <p:nvSpPr>
          <p:cNvPr id="11" name="Chart title D"/>
          <p:cNvSpPr txBox="1"/>
          <p:nvPr/>
        </p:nvSpPr>
        <p:spPr>
          <a:xfrm>
            <a:off x="557784" y="676656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Leverage by Financing Route (%)</a:t>
            </a:r>
            <a:endParaRPr lang="en-US" sz="1100" dirty="0"/>
          </a:p>
        </p:txBody>
      </p:sp>
      <p:sp>
        <p:nvSpPr>
          <p:cNvPr id="12" name="Chart placeholder D"/>
          <p:cNvSpPr/>
          <p:nvPr/>
        </p:nvSpPr>
        <p:spPr>
          <a:xfrm>
            <a:off x="557784" y="7059168"/>
            <a:ext cx="2798064" cy="2194560"/>
          </a:xfrm>
          <a:prstGeom prst="rect">
            <a:avLst/>
          </a:prstGeom>
          <a:solidFill>
            <a:srgbClr val="FFFFFF">
              <a:alpha val="65000"/>
            </a:srgbClr>
          </a:solidFill>
          <a:ln w="12700">
            <a:solidFill>
              <a:srgbClr val="9B3739"/>
            </a:solidFill>
            <a:prstDash val="dash"/>
          </a:ln>
        </p:spPr>
      </p:sp>
      <p:sp>
        <p:nvSpPr>
          <p:cNvPr id="13" name="Chart placeholder text D"/>
          <p:cNvSpPr txBox="1"/>
          <p:nvPr/>
        </p:nvSpPr>
        <p:spPr>
          <a:xfrm>
            <a:off x="694944" y="7059168"/>
            <a:ext cx="2523744" cy="2194560"/>
          </a:xfrm>
          <a:prstGeom prst="rect">
            <a:avLst/>
          </a:prstGeom>
          <a:noFill/>
          <a:ln/>
        </p:spPr>
        <p:txBody>
          <a:bodyPr wrap="square" lIns="0" tIns="0" rIns="0" bIns="0" rtlCol="0" anchor="ctr"/>
          <a:lstStyle/>
          <a:p>
            <a:pPr algn="ctr" indent="0" marL="0">
              <a:buNone/>
            </a:pPr>
            <a:r>
              <a:rPr lang="en-US" sz="1100" b="1" dirty="0">
                <a:solidFill>
                  <a:srgbClr val="9B3739"/>
                </a:solidFill>
                <a:latin typeface="Times New Roman" pitchFamily="34" charset="0"/>
                <a:ea typeface="Times New Roman" pitchFamily="34" charset="-122"/>
                <a:cs typeface="Times New Roman" pitchFamily="34" charset="-120"/>
              </a:rPr>
              <a:t>Insert chart</a:t>
            </a:r>
            <a:endParaRPr lang="en-US" sz="1100" dirty="0"/>
          </a:p>
          <a:p>
            <a:pPr algn="ctr" indent="0" marL="0">
              <a:buNone/>
            </a:pPr>
            <a:r>
              <a:rPr lang="en-US" sz="900" i="1" dirty="0">
                <a:solidFill>
                  <a:srgbClr val="9B3739"/>
                </a:solidFill>
                <a:latin typeface="Times New Roman" pitchFamily="34" charset="0"/>
                <a:ea typeface="Times New Roman" pitchFamily="34" charset="-122"/>
                <a:cs typeface="Times New Roman" pitchFamily="34" charset="-120"/>
              </a:rPr>
              <a:t>Beacon Point, Saline, Aligned ABS, xAI chip vehicle</a:t>
            </a:r>
            <a:endParaRPr lang="en-US" sz="1100" dirty="0"/>
          </a:p>
        </p:txBody>
      </p:sp>
      <p:sp>
        <p:nvSpPr>
          <p:cNvPr id="14" name="Chart title B"/>
          <p:cNvSpPr txBox="1"/>
          <p:nvPr/>
        </p:nvSpPr>
        <p:spPr>
          <a:xfrm>
            <a:off x="3502152" y="676656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Hyperscaler Bond Issuance ($bn)</a:t>
            </a:r>
            <a:endParaRPr lang="en-US" sz="1100" dirty="0"/>
          </a:p>
        </p:txBody>
      </p:sp>
      <p:sp>
        <p:nvSpPr>
          <p:cNvPr id="15" name="Chart placeholder B"/>
          <p:cNvSpPr/>
          <p:nvPr/>
        </p:nvSpPr>
        <p:spPr>
          <a:xfrm>
            <a:off x="3502152" y="7059168"/>
            <a:ext cx="2798064" cy="2194560"/>
          </a:xfrm>
          <a:prstGeom prst="rect">
            <a:avLst/>
          </a:prstGeom>
          <a:solidFill>
            <a:srgbClr val="FFFFFF">
              <a:alpha val="65000"/>
            </a:srgbClr>
          </a:solidFill>
          <a:ln w="12700">
            <a:solidFill>
              <a:srgbClr val="9B3739"/>
            </a:solidFill>
            <a:prstDash val="dash"/>
          </a:ln>
        </p:spPr>
      </p:sp>
      <p:sp>
        <p:nvSpPr>
          <p:cNvPr id="16" name="Chart placeholder text B"/>
          <p:cNvSpPr txBox="1"/>
          <p:nvPr/>
        </p:nvSpPr>
        <p:spPr>
          <a:xfrm>
            <a:off x="3639312" y="7059168"/>
            <a:ext cx="2523744" cy="2194560"/>
          </a:xfrm>
          <a:prstGeom prst="rect">
            <a:avLst/>
          </a:prstGeom>
          <a:noFill/>
          <a:ln/>
        </p:spPr>
        <p:txBody>
          <a:bodyPr wrap="square" lIns="0" tIns="0" rIns="0" bIns="0" rtlCol="0" anchor="ctr"/>
          <a:lstStyle/>
          <a:p>
            <a:pPr algn="ctr" indent="0" marL="0">
              <a:buNone/>
            </a:pPr>
            <a:r>
              <a:rPr lang="en-US" sz="1100" b="1" dirty="0">
                <a:solidFill>
                  <a:srgbClr val="9B3739"/>
                </a:solidFill>
                <a:latin typeface="Times New Roman" pitchFamily="34" charset="0"/>
                <a:ea typeface="Times New Roman" pitchFamily="34" charset="-122"/>
                <a:cs typeface="Times New Roman" pitchFamily="34" charset="-120"/>
              </a:rPr>
              <a:t>Insert chart</a:t>
            </a:r>
            <a:endParaRPr lang="en-US" sz="1100" dirty="0"/>
          </a:p>
          <a:p>
            <a:pPr algn="ctr" indent="0" marL="0">
              <a:buNone/>
            </a:pPr>
            <a:r>
              <a:rPr lang="en-US" sz="900" i="1" dirty="0">
                <a:solidFill>
                  <a:srgbClr val="9B3739"/>
                </a:solidFill>
                <a:latin typeface="Times New Roman" pitchFamily="34" charset="0"/>
                <a:ea typeface="Times New Roman" pitchFamily="34" charset="-122"/>
                <a:cs typeface="Times New Roman" pitchFamily="34" charset="-120"/>
              </a:rPr>
              <a:t>2025 actual, 2026 to date, 2026E, 2027E</a:t>
            </a:r>
            <a:endParaRPr lang="en-US" sz="1100" dirty="0"/>
          </a:p>
        </p:txBody>
      </p:sp>
      <p:sp>
        <p:nvSpPr>
          <p:cNvPr id="17" name="Sources"/>
          <p:cNvSpPr txBox="1"/>
          <p:nvPr/>
        </p:nvSpPr>
        <p:spPr>
          <a:xfrm>
            <a:off x="457200" y="9381744"/>
            <a:ext cx="5943600" cy="201168"/>
          </a:xfrm>
          <a:prstGeom prst="rect">
            <a:avLst/>
          </a:prstGeom>
          <a:noFill/>
          <a:ln/>
        </p:spPr>
        <p:txBody>
          <a:bodyPr wrap="square" lIns="0" tIns="0" rIns="0" bIns="0" rtlCol="0" anchor="t"/>
          <a:lstStyle/>
          <a:p>
            <a:pPr indent="0" marL="0">
              <a:buNone/>
            </a:pPr>
            <a:r>
              <a:rPr lang="en-US" sz="750" dirty="0">
                <a:solidFill>
                  <a:srgbClr val="000000"/>
                </a:solidFill>
                <a:latin typeface="Times New Roman" pitchFamily="34" charset="0"/>
                <a:ea typeface="Times New Roman" pitchFamily="34" charset="-122"/>
                <a:cs typeface="Times New Roman" pitchFamily="34" charset="-120"/>
              </a:rPr>
              <a:t>Sources: Meta, Moody's, S&amp;P Global Ratings, KBRA, Bloomberg, PitchBook, Apollo, Hut 8, Aligned, Related Digital</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57784" y="566928"/>
            <a:ext cx="5303520" cy="457200"/>
          </a:xfrm>
          <a:prstGeom prst="rect">
            <a:avLst/>
          </a:prstGeom>
          <a:noFill/>
          <a:ln/>
        </p:spPr>
        <p:txBody>
          <a:bodyPr wrap="square" lIns="0" tIns="0" rIns="0" bIns="0" rtlCol="0" anchor="ctr"/>
          <a:lstStyle/>
          <a:p>
            <a:pPr algn="l" indent="0" marL="0">
              <a:buNone/>
            </a:pPr>
            <a:r>
              <a:rPr lang="en-US" sz="2600" b="1" dirty="0">
                <a:solidFill>
                  <a:srgbClr val="000000"/>
                </a:solidFill>
                <a:latin typeface="Times New Roman" pitchFamily="34" charset="0"/>
                <a:ea typeface="Times New Roman" pitchFamily="34" charset="-122"/>
                <a:cs typeface="Times New Roman" pitchFamily="34" charset="-120"/>
              </a:rPr>
              <a:t>Pricing AI Credit</a:t>
            </a:r>
            <a:endParaRPr lang="en-US" sz="2600" dirty="0"/>
          </a:p>
        </p:txBody>
      </p:sp>
      <p:sp>
        <p:nvSpPr>
          <p:cNvPr id="3" name="Page number box"/>
          <p:cNvSpPr/>
          <p:nvPr/>
        </p:nvSpPr>
        <p:spPr>
          <a:xfrm>
            <a:off x="6364224" y="246888"/>
            <a:ext cx="329184" cy="246888"/>
          </a:xfrm>
          <a:prstGeom prst="rect">
            <a:avLst/>
          </a:prstGeom>
          <a:solidFill>
            <a:srgbClr val="5A2020"/>
          </a:solidFill>
          <a:ln w="12700">
            <a:solidFill>
              <a:srgbClr val="5A2020"/>
            </a:solidFill>
            <a:prstDash val="solid"/>
          </a:ln>
        </p:spPr>
      </p:sp>
      <p:sp>
        <p:nvSpPr>
          <p:cNvPr id="4" name="Page number"/>
          <p:cNvSpPr txBox="1"/>
          <p:nvPr/>
        </p:nvSpPr>
        <p:spPr>
          <a:xfrm>
            <a:off x="6364224" y="246888"/>
            <a:ext cx="329184"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6</a:t>
            </a:r>
            <a:endParaRPr lang="en-US" sz="1100" dirty="0"/>
          </a:p>
        </p:txBody>
      </p:sp>
      <p:sp>
        <p:nvSpPr>
          <p:cNvPr id="5" name="Heading Market Activity"/>
          <p:cNvSpPr txBox="1"/>
          <p:nvPr/>
        </p:nvSpPr>
        <p:spPr>
          <a:xfrm>
            <a:off x="557784" y="100584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Market Activity</a:t>
            </a:r>
            <a:endParaRPr lang="en-US" sz="2000" dirty="0"/>
          </a:p>
        </p:txBody>
      </p:sp>
      <p:sp>
        <p:nvSpPr>
          <p:cNvPr id="6" name="Market activity body"/>
          <p:cNvSpPr txBox="1"/>
          <p:nvPr/>
        </p:nvSpPr>
        <p:spPr>
          <a:xfrm>
            <a:off x="557784" y="1371600"/>
            <a:ext cx="5742432" cy="187452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Investors keep funding the buildout but charging more for it. Apollo estimates order cover on hyperscaler bonds fell from about five times in February to below two times by July. Meta's El Paso joint venture priced $12.5bn of A+ rated amortizing notes on July 27 at 7.534%, or T+287.5, with orders peaking near $20bn, about 1.6 times the deal, while the average bond sale this year drew close to four times. That was 62.5bps wider than Hyperion's T+225 in October 2025 on the same tenant, rating, and template. On September 23 a Blue Owl affiliated campus in Virginia leased to CoreWeave sold $1.1bn of BB- rated five year notes at 98.5 to yield 9.25%, about 270bps above similarly rated debt. GPU loans split the same way. CoreWeave borrowed at SOFR plus 225 in March on an A3 rated facility backed by its Meta contract, then paid SOFR plus 550 in August on a Ba2 facility, 100bps wider than its May loan at the same ratings.</a:t>
            </a:r>
            <a:endParaRPr lang="en-US" sz="1050" dirty="0"/>
          </a:p>
        </p:txBody>
      </p:sp>
      <p:sp>
        <p:nvSpPr>
          <p:cNvPr id="7" name="Table title"/>
          <p:cNvSpPr txBox="1"/>
          <p:nvPr/>
        </p:nvSpPr>
        <p:spPr>
          <a:xfrm>
            <a:off x="557784" y="2971800"/>
            <a:ext cx="5742432"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AI Infrastructure Deal Pricing and Leverage</a:t>
            </a:r>
            <a:endParaRPr lang="en-US" sz="1100" dirty="0"/>
          </a:p>
        </p:txBody>
      </p:sp>
      <p:graphicFrame>
        <p:nvGraphicFramePr>
          <p:cNvPr id="4" name="Deal table"/>
          <p:cNvGraphicFramePr>
            <a:graphicFrameLocks noGrp="1"/>
          </p:cNvGraphicFramePr>
          <p:nvPr>
            <p:extLst>
              <p:ext uri="{D42A27DB-BD31-4B8C-83A1-F6EECF244321}">
                <p14:modId xmlns:p14="http://schemas.microsoft.com/office/powerpoint/2010/main" val="1579011935"/>
              </p:ext>
            </p:extLst>
          </p:nvPr>
        </p:nvGraphicFramePr>
        <p:xfrm>
          <a:off x="557784" y="3264408"/>
          <a:ext cx="5742432" cy="914400"/>
        </p:xfrm>
        <a:graphic>
          <a:graphicData uri="http://schemas.openxmlformats.org/drawingml/2006/table">
            <a:tbl>
              <a:tblPr/>
              <a:tblGrid>
                <a:gridCol w="1371600"/>
                <a:gridCol w="548640"/>
                <a:gridCol w="548640"/>
                <a:gridCol w="713232"/>
                <a:gridCol w="914400"/>
                <a:gridCol w="566928"/>
                <a:gridCol w="1078992"/>
              </a:tblGrid>
              <a:tr h="283464">
                <a:tc>
                  <a:txBody>
                    <a:bodyPr/>
                    <a:lstStyle/>
                    <a:p>
                      <a:pPr algn="l" indent="0" marL="0">
                        <a:buNone/>
                      </a:pPr>
                      <a:r>
                        <a:rPr lang="en-US" sz="800" b="1" dirty="0">
                          <a:solidFill>
                            <a:srgbClr val="FFFFFF"/>
                          </a:solidFill>
                          <a:latin typeface="Times New Roman" pitchFamily="34" charset="0"/>
                          <a:ea typeface="Times New Roman" pitchFamily="34" charset="-122"/>
                          <a:cs typeface="Times New Roman" pitchFamily="34" charset="-120"/>
                        </a:rPr>
                        <a:t>Deal</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Priced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Size</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Rating</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Pricing</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Final</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Leverage or collateral</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r>
              <a:tr h="283464">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Hut 8 Beacon Point bonds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Jun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$4.25bn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Baa2</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6.129%, T+165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2042</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95% LTC</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83464">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Oracle Saline SPV bonds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Apr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~$14bn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Not disclosed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7.5% at 98.75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2045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~85% LTC (derived)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83464">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Meta Hyperion SPV bonds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Oct 2025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$27.3bn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6.581%, T+225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2049</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Lease, ~$28bn RVG</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83464">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Meta El Paso SPV bonds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Jul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$12.5bn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 / AA-</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7.534%, T+287.5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2048</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Meta lease and RVG</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83464">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Digital Drive (CoreWeave)</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Sep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$1.1bn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BB-</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9.25% yield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5 yr</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CoreWeave lease</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83464">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Aligned data center ABS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Jul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$1.18bn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 senior</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Not disclosed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5 yr ARD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70% LTV cap</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83464">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BX 2026 VLT10 CMBS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Jun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$1.26bn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KBRA rated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Not disclosed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10 yr ARD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108% KBRA LTV</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83464">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CoreWeave DDTL 4.0</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Mar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$8.5bn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A3</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SOFR+225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2032</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GPUs, Meta contract</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83464">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CoreWeave DDTL 5.5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Aug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$2.6bn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Ba2 / BB+</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SOFR+550</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2031</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GPUs, ~3 yr contracts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83464">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Lambda term loan B</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Aug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$926m</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Baa2</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SOFR+300</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2030</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GPUs, IG offtaker</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83464">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Oracle Jupiter loan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Late 2025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~$18bn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Not disclosed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Quoted 89 to 91</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n/a</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Oracle lease (BBB-)</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bl>
          </a:graphicData>
        </a:graphic>
      </p:graphicFrame>
      <p:sp>
        <p:nvSpPr>
          <p:cNvPr id="9" name="Table note"/>
          <p:cNvSpPr txBox="1"/>
          <p:nvPr/>
        </p:nvSpPr>
        <p:spPr>
          <a:xfrm>
            <a:off x="557784" y="6702552"/>
            <a:ext cx="5742432" cy="237744"/>
          </a:xfrm>
          <a:prstGeom prst="rect">
            <a:avLst/>
          </a:prstGeom>
          <a:noFill/>
          <a:ln/>
        </p:spPr>
        <p:txBody>
          <a:bodyPr wrap="square" lIns="0" tIns="0" rIns="0" bIns="0" rtlCol="0" anchor="t"/>
          <a:lstStyle/>
          <a:p>
            <a:pPr indent="0" marL="0">
              <a:buNone/>
            </a:pPr>
            <a:r>
              <a:rPr lang="en-US" sz="700" i="1" dirty="0">
                <a:solidFill>
                  <a:srgbClr val="000000"/>
                </a:solidFill>
                <a:latin typeface="Times New Roman" pitchFamily="34" charset="0"/>
                <a:ea typeface="Times New Roman" pitchFamily="34" charset="-122"/>
                <a:cs typeface="Times New Roman" pitchFamily="34" charset="-120"/>
              </a:rPr>
              <a:t>LTC is loan to cost and LTV is loan to value. Ratings are S&amp;P, Moody's, Fitch or KBRA as reported, and El Paso shows S&amp;P then Fitch. Saline LTC is derived from the reported 15% equity.</a:t>
            </a:r>
            <a:endParaRPr lang="en-US" sz="700" dirty="0"/>
          </a:p>
        </p:txBody>
      </p:sp>
      <p:sp>
        <p:nvSpPr>
          <p:cNvPr id="10" name="Heading Spreads Follow the Tenant"/>
          <p:cNvSpPr txBox="1"/>
          <p:nvPr/>
        </p:nvSpPr>
        <p:spPr>
          <a:xfrm>
            <a:off x="557784" y="7077456"/>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Spreads Follow the Tenant</a:t>
            </a:r>
            <a:endParaRPr lang="en-US" sz="2000" dirty="0"/>
          </a:p>
        </p:txBody>
      </p:sp>
      <p:sp>
        <p:nvSpPr>
          <p:cNvPr id="11" name="Spreads body"/>
          <p:cNvSpPr txBox="1"/>
          <p:nvPr/>
        </p:nvSpPr>
        <p:spPr>
          <a:xfrm>
            <a:off x="557784" y="7443216"/>
            <a:ext cx="5742432" cy="182880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The tenant sets the starting point, and tenor and timing set the rest. Beacon Point, with a tenant rated AA- or better and bonds amortizing to 2042, priced at T+165 despite 95% leverage. El Paso, with A+ rated notes backed by Meta's lease and a 2048 final maturity, needed T+287.5 nine months after Hyperion, as order books thinned. Below investment grade the step is larger, and CoreWeave linked paper clears near 9.25% even on a secured basis. Hyperscaler corporate bonds are repricing as well. Amazon paid a new issue concession of 10 to 12bps on its $25bn July deal against a 2026 average near 4bps, and Meta's $25bn April deal drew a $96bn book against $125bn for its October 2025 deal. Oracle's $25bn February deal drew a $129bn book, yet its 10 year priced near T+145 while the US BBB index traded around T+95. The divergence is between steady demand for the largest tickets and a rising price for every notch of tenant risk.</a:t>
            </a:r>
            <a:endParaRPr lang="en-US" sz="1050" dirty="0"/>
          </a:p>
        </p:txBody>
      </p:sp>
      <p:sp>
        <p:nvSpPr>
          <p:cNvPr id="12" name="Sources"/>
          <p:cNvSpPr txBox="1"/>
          <p:nvPr/>
        </p:nvSpPr>
        <p:spPr>
          <a:xfrm>
            <a:off x="457200" y="9381744"/>
            <a:ext cx="5943600" cy="201168"/>
          </a:xfrm>
          <a:prstGeom prst="rect">
            <a:avLst/>
          </a:prstGeom>
          <a:noFill/>
          <a:ln/>
        </p:spPr>
        <p:txBody>
          <a:bodyPr wrap="square" lIns="0" tIns="0" rIns="0" bIns="0" rtlCol="0" anchor="t"/>
          <a:lstStyle/>
          <a:p>
            <a:pPr indent="0" marL="0">
              <a:buNone/>
            </a:pPr>
            <a:r>
              <a:rPr lang="en-US" sz="750" dirty="0">
                <a:solidFill>
                  <a:srgbClr val="000000"/>
                </a:solidFill>
                <a:latin typeface="Times New Roman" pitchFamily="34" charset="0"/>
                <a:ea typeface="Times New Roman" pitchFamily="34" charset="-122"/>
                <a:cs typeface="Times New Roman" pitchFamily="34" charset="-120"/>
              </a:rPr>
              <a:t>Sources: Bloomberg, PitchBook, IFR, Reuters, S&amp;P Global Ratings, Moody's, Fitch, KBRA, CoreWeave, Lambda, Hut 8</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557784" y="566928"/>
            <a:ext cx="5303520" cy="457200"/>
          </a:xfrm>
          <a:prstGeom prst="rect">
            <a:avLst/>
          </a:prstGeom>
          <a:noFill/>
          <a:ln/>
        </p:spPr>
        <p:txBody>
          <a:bodyPr wrap="square" lIns="0" tIns="0" rIns="0" bIns="0" rtlCol="0" anchor="ctr"/>
          <a:lstStyle/>
          <a:p>
            <a:pPr algn="l" indent="0" marL="0">
              <a:buNone/>
            </a:pPr>
            <a:r>
              <a:rPr lang="en-US" sz="2600" b="1" dirty="0">
                <a:solidFill>
                  <a:srgbClr val="000000"/>
                </a:solidFill>
                <a:latin typeface="Times New Roman" pitchFamily="34" charset="0"/>
                <a:ea typeface="Times New Roman" pitchFamily="34" charset="-122"/>
                <a:cs typeface="Times New Roman" pitchFamily="34" charset="-120"/>
              </a:rPr>
              <a:t>AI Credit Under Strain</a:t>
            </a:r>
            <a:endParaRPr lang="en-US" sz="2600" dirty="0"/>
          </a:p>
        </p:txBody>
      </p:sp>
      <p:sp>
        <p:nvSpPr>
          <p:cNvPr id="3" name="Page number box"/>
          <p:cNvSpPr/>
          <p:nvPr/>
        </p:nvSpPr>
        <p:spPr>
          <a:xfrm>
            <a:off x="6364224" y="246888"/>
            <a:ext cx="329184" cy="246888"/>
          </a:xfrm>
          <a:prstGeom prst="rect">
            <a:avLst/>
          </a:prstGeom>
          <a:solidFill>
            <a:srgbClr val="5A2020"/>
          </a:solidFill>
          <a:ln w="12700">
            <a:solidFill>
              <a:srgbClr val="5A2020"/>
            </a:solidFill>
            <a:prstDash val="solid"/>
          </a:ln>
        </p:spPr>
      </p:sp>
      <p:sp>
        <p:nvSpPr>
          <p:cNvPr id="4" name="Page number"/>
          <p:cNvSpPr txBox="1"/>
          <p:nvPr/>
        </p:nvSpPr>
        <p:spPr>
          <a:xfrm>
            <a:off x="6364224" y="246888"/>
            <a:ext cx="329184"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7</a:t>
            </a:r>
            <a:endParaRPr lang="en-US" sz="1100" dirty="0"/>
          </a:p>
        </p:txBody>
      </p:sp>
      <p:sp>
        <p:nvSpPr>
          <p:cNvPr id="5" name="Heading Oracle and Project Jupiter"/>
          <p:cNvSpPr txBox="1"/>
          <p:nvPr/>
        </p:nvSpPr>
        <p:spPr>
          <a:xfrm>
            <a:off x="557784" y="100584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Oracle and Project Jupiter</a:t>
            </a:r>
            <a:endParaRPr lang="en-US" sz="2000" dirty="0"/>
          </a:p>
        </p:txBody>
      </p:sp>
      <p:sp>
        <p:nvSpPr>
          <p:cNvPr id="6" name="Oracle body"/>
          <p:cNvSpPr txBox="1"/>
          <p:nvPr/>
        </p:nvSpPr>
        <p:spPr>
          <a:xfrm>
            <a:off x="557784" y="1371600"/>
            <a:ext cx="5742432" cy="201168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Oracle is the clearest test of what happens when the tenant weakens. S&amp;P cut Oracle to BBB- on July 9, citing OpenAI as about half of its contracted backlog and a projected fiscal 2027 free operating cash flow deficit of about $42bn, and said another downgrade is possible if leverage stays above 4.5x. Oracle's September 10 results showed remaining performance obligations of $664bn, quarterly capex of $28.5bn, and fiscal 2027 capex guidance of $90bn to $95bn. The strain has reached project debt. The $18bn construction loan on Project Jupiter, a 2.45 gigawatt New Mexico campus developed by a Blue Owl unit and leased to Oracle, was quoted at 89 to 91 cents in September, with syndicate banks holding more of it than planned. On September 24 Oracle sent the developer a force majeure notice after a gas pipeline slipped to February 2027, which could let it defer rent for up to three years. Oracle says the project is on schedule.</a:t>
            </a:r>
            <a:endParaRPr lang="en-US" sz="1050" dirty="0"/>
          </a:p>
        </p:txBody>
      </p:sp>
      <p:sp>
        <p:nvSpPr>
          <p:cNvPr id="7" name="Chart title C"/>
          <p:cNvSpPr txBox="1"/>
          <p:nvPr/>
        </p:nvSpPr>
        <p:spPr>
          <a:xfrm>
            <a:off x="557784" y="306324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Project Bond Yields by Tenant (%)</a:t>
            </a:r>
            <a:endParaRPr lang="en-US" sz="1100" dirty="0"/>
          </a:p>
        </p:txBody>
      </p:sp>
      <p:graphicFrame>
        <p:nvGraphicFramePr>
          <p:cNvPr id="8" name="Chart 0" descr=""/>
          <p:cNvGraphicFramePr/>
          <p:nvPr/>
        </p:nvGraphicFramePr>
        <p:xfrm>
          <a:off x="557784" y="3355848"/>
          <a:ext cx="2798064" cy="1371600"/>
        </p:xfrm>
        <a:graphic xmlns:a="http://schemas.openxmlformats.org/drawingml/2006/main">
          <a:graphicData uri="http://schemas.openxmlformats.org/drawingml/2006/chart">
            <c:chart xmlns:c="http://schemas.openxmlformats.org/drawingml/2006/chart" r:id="rId1"/>
          </a:graphicData>
        </a:graphic>
      </p:graphicFrame>
      <p:sp>
        <p:nvSpPr>
          <p:cNvPr id="9" name="Chart footnote C"/>
          <p:cNvSpPr txBox="1"/>
          <p:nvPr/>
        </p:nvSpPr>
        <p:spPr>
          <a:xfrm>
            <a:off x="557784" y="4745736"/>
            <a:ext cx="2798064" cy="237744"/>
          </a:xfrm>
          <a:prstGeom prst="rect">
            <a:avLst/>
          </a:prstGeom>
          <a:noFill/>
          <a:ln/>
        </p:spPr>
        <p:txBody>
          <a:bodyPr wrap="square" lIns="0" tIns="0" rIns="0" bIns="0" rtlCol="0" anchor="t"/>
          <a:lstStyle/>
          <a:p>
            <a:pPr indent="0" marL="0">
              <a:buNone/>
            </a:pPr>
            <a:r>
              <a:rPr lang="en-US" sz="700" i="1" dirty="0">
                <a:solidFill>
                  <a:srgbClr val="000000"/>
                </a:solidFill>
                <a:latin typeface="Times New Roman" pitchFamily="34" charset="0"/>
                <a:ea typeface="Times New Roman" pitchFamily="34" charset="-122"/>
                <a:cs typeface="Times New Roman" pitchFamily="34" charset="-120"/>
              </a:rPr>
              <a:t>Yield at issue, Oct 2025 to Sep 2026. Treasury yields moved over the period, so the spreads of T+165, T+225 and T+287.5 are the fair comparison.</a:t>
            </a:r>
            <a:endParaRPr lang="en-US" sz="700" dirty="0"/>
          </a:p>
        </p:txBody>
      </p:sp>
      <p:sp>
        <p:nvSpPr>
          <p:cNvPr id="10" name="Chart title A"/>
          <p:cNvSpPr txBox="1"/>
          <p:nvPr/>
        </p:nvSpPr>
        <p:spPr>
          <a:xfrm>
            <a:off x="3502152" y="306324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GPU Loan Spreads (bps over SOFR)</a:t>
            </a:r>
            <a:endParaRPr lang="en-US" sz="1100" dirty="0"/>
          </a:p>
        </p:txBody>
      </p:sp>
      <p:graphicFrame>
        <p:nvGraphicFramePr>
          <p:cNvPr id="11" name="Chart 1" descr=""/>
          <p:cNvGraphicFramePr/>
          <p:nvPr/>
        </p:nvGraphicFramePr>
        <p:xfrm>
          <a:off x="3502152" y="3355848"/>
          <a:ext cx="2798064" cy="1371600"/>
        </p:xfrm>
        <a:graphic xmlns:a="http://schemas.openxmlformats.org/drawingml/2006/main">
          <a:graphicData uri="http://schemas.openxmlformats.org/drawingml/2006/chart">
            <c:chart xmlns:c="http://schemas.openxmlformats.org/drawingml/2006/chart" r:id="rId2"/>
          </a:graphicData>
        </a:graphic>
      </p:graphicFrame>
      <p:sp>
        <p:nvSpPr>
          <p:cNvPr id="12" name="Chart footnote A"/>
          <p:cNvSpPr txBox="1"/>
          <p:nvPr/>
        </p:nvSpPr>
        <p:spPr>
          <a:xfrm>
            <a:off x="3502152" y="4745736"/>
            <a:ext cx="2798064" cy="237744"/>
          </a:xfrm>
          <a:prstGeom prst="rect">
            <a:avLst/>
          </a:prstGeom>
          <a:noFill/>
          <a:ln/>
        </p:spPr>
        <p:txBody>
          <a:bodyPr wrap="square" lIns="0" tIns="0" rIns="0" bIns="0" rtlCol="0" anchor="t"/>
          <a:lstStyle/>
          <a:p>
            <a:pPr indent="0" marL="0">
              <a:buNone/>
            </a:pPr>
            <a:r>
              <a:rPr lang="en-US" sz="700" i="1" dirty="0">
                <a:solidFill>
                  <a:srgbClr val="000000"/>
                </a:solidFill>
                <a:latin typeface="Times New Roman" pitchFamily="34" charset="0"/>
                <a:ea typeface="Times New Roman" pitchFamily="34" charset="-122"/>
                <a:cs typeface="Times New Roman" pitchFamily="34" charset="-120"/>
              </a:rPr>
              <a:t>Margin over SOFR at closing.</a:t>
            </a:r>
            <a:endParaRPr lang="en-US" sz="700" dirty="0"/>
          </a:p>
        </p:txBody>
      </p:sp>
      <p:sp>
        <p:nvSpPr>
          <p:cNvPr id="13" name="Heading Risk Considerations"/>
          <p:cNvSpPr txBox="1"/>
          <p:nvPr/>
        </p:nvSpPr>
        <p:spPr>
          <a:xfrm>
            <a:off x="557784" y="5093208"/>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Risk Considerations</a:t>
            </a:r>
            <a:endParaRPr lang="en-US" sz="2000" dirty="0"/>
          </a:p>
        </p:txBody>
      </p:sp>
      <p:sp>
        <p:nvSpPr>
          <p:cNvPr id="14" name="Risk body"/>
          <p:cNvSpPr txBox="1"/>
          <p:nvPr/>
        </p:nvSpPr>
        <p:spPr>
          <a:xfrm>
            <a:off x="557784" y="5458968"/>
            <a:ext cx="5742432" cy="128016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Three risks sit beneath the pricing. Duration is the first, since four year initial leases support bonds amortizing over more than 20 years, and CoreWeave's August facility runs about five years against customer contracts averaging about three. Construction is the second, because rent does not begin until a campus is finished, leaving lenders exposed to power, permitting, and local opposition. Concentration is the third, with OpenAI behind about half of Oracle's backlog and an OpenAI contract backing one of CoreWeave's GPU facilities, so one counterparty links bank loans, project bonds, and GPU debt. The key divergence is that structures rated on a strong tenant now carry spreads that price a weaker one.</a:t>
            </a:r>
            <a:endParaRPr lang="en-US" sz="1050" dirty="0"/>
          </a:p>
        </p:txBody>
      </p:sp>
      <p:sp>
        <p:nvSpPr>
          <p:cNvPr id="15" name="Heading Meta SPVs Reprice"/>
          <p:cNvSpPr txBox="1"/>
          <p:nvPr/>
        </p:nvSpPr>
        <p:spPr>
          <a:xfrm>
            <a:off x="557784" y="6830568"/>
            <a:ext cx="2743200"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Meta SPVs Reprice</a:t>
            </a:r>
            <a:endParaRPr lang="en-US" sz="2000" dirty="0"/>
          </a:p>
        </p:txBody>
      </p:sp>
      <p:sp>
        <p:nvSpPr>
          <p:cNvPr id="16" name="Heading CoreWeave&amp;apos;s Credit Curve"/>
          <p:cNvSpPr txBox="1"/>
          <p:nvPr/>
        </p:nvSpPr>
        <p:spPr>
          <a:xfrm>
            <a:off x="3557016" y="6830568"/>
            <a:ext cx="2743200"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CoreWeave's Credit Curve</a:t>
            </a:r>
            <a:endParaRPr lang="en-US" sz="2000" dirty="0"/>
          </a:p>
        </p:txBody>
      </p:sp>
      <p:sp>
        <p:nvSpPr>
          <p:cNvPr id="17" name="Callout left body"/>
          <p:cNvSpPr txBox="1"/>
          <p:nvPr/>
        </p:nvSpPr>
        <p:spPr>
          <a:xfrm>
            <a:off x="557784" y="7196328"/>
            <a:ext cx="2743200" cy="205740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Meta's two joint ventures share one template, a four year initial lease, a residual value guarantee covering the first 16 years, and A+ rated amortizing bonds. On Hyperion the guarantee totals about $28bn against $27.3bn of bonds, and rent begins in June 2029. Hyperion priced at 6.581%, or T+225, in October 2025. El Paso priced $12.5bn at 7.534%, or T+287.5, in July, with Fitch one notch higher at AA-. The 62.5bps wider spread on the same tenant shows that investors now price supply, structure, and timing on top of Meta's credit.</a:t>
            </a:r>
            <a:endParaRPr lang="en-US" sz="1050" dirty="0"/>
          </a:p>
        </p:txBody>
      </p:sp>
      <p:sp>
        <p:nvSpPr>
          <p:cNvPr id="18" name="Callout right body"/>
          <p:cNvSpPr txBox="1"/>
          <p:nvPr/>
        </p:nvSpPr>
        <p:spPr>
          <a:xfrm>
            <a:off x="3557016" y="7196328"/>
            <a:ext cx="2743200" cy="205740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CoreWeave's pricing depends on who pays. Its $8.5bn DDTL 4.0, backed by GPUs serving Meta, is rated A3 by Moody's and priced at SOFR plus 225. DDTL 3.0, tied to OpenAI, priced at SOFR plus 400. The $3.1bn DDTL 5.0 in May priced at SOFR plus 450 with Ba2 and BB+ ratings, and the $2.6bn DDTL 5.5 in August priced at SOFR plus 550 at the same ratings. The company itself is rated B+ by S&amp;P. The 325bps gap between its A3 and Ba2 facilities mostly prices counterparty risk, though the 100bps move between May and August shows timing matters too.</a:t>
            </a:r>
            <a:endParaRPr lang="en-US" sz="1050" dirty="0"/>
          </a:p>
        </p:txBody>
      </p:sp>
      <p:sp>
        <p:nvSpPr>
          <p:cNvPr id="19" name="Sources"/>
          <p:cNvSpPr txBox="1"/>
          <p:nvPr/>
        </p:nvSpPr>
        <p:spPr>
          <a:xfrm>
            <a:off x="457200" y="9381744"/>
            <a:ext cx="5943600" cy="201168"/>
          </a:xfrm>
          <a:prstGeom prst="rect">
            <a:avLst/>
          </a:prstGeom>
          <a:noFill/>
          <a:ln/>
        </p:spPr>
        <p:txBody>
          <a:bodyPr wrap="square" lIns="0" tIns="0" rIns="0" bIns="0" rtlCol="0" anchor="t"/>
          <a:lstStyle/>
          <a:p>
            <a:pPr indent="0" marL="0">
              <a:buNone/>
            </a:pPr>
            <a:r>
              <a:rPr lang="en-US" sz="750" dirty="0">
                <a:solidFill>
                  <a:srgbClr val="000000"/>
                </a:solidFill>
                <a:latin typeface="Times New Roman" pitchFamily="34" charset="0"/>
                <a:ea typeface="Times New Roman" pitchFamily="34" charset="-122"/>
                <a:cs typeface="Times New Roman" pitchFamily="34" charset="-120"/>
              </a:rPr>
              <a:t>Sources: Oracle, S&amp;P Global Ratings, Moody's, Fitch, Financial Times, Bloomberg, Reuters, CoreWeave, PitchBook</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LLC Case Study, AI Infrastructure Financing</dc:title>
  <dc:subject>PptxGenJS Presentation</dc:subject>
  <dc:creator>Leveraged Lion Capital</dc:creator>
  <cp:lastModifiedBy>Leveraged Lion Capital</cp:lastModifiedBy>
  <cp:revision>1</cp:revision>
  <dcterms:created xsi:type="dcterms:W3CDTF">2026-10-06T03:40:28Z</dcterms:created>
  <dcterms:modified xsi:type="dcterms:W3CDTF">2026-10-06T03:40:28Z</dcterms:modified>
</cp:coreProperties>
</file>