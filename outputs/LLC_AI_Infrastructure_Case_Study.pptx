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Project Bond Yields by Tenant (%)</c:v>
                </c:pt>
              </c:strCache>
            </c:strRef>
          </c:tx>
          <c:spPr>
            <a:solidFill>
              <a:srgbClr val="9A3839"/>
            </a:solidFill>
            <a:effectLst/>
          </c:spPr>
          <c:invertIfNegative val="0"/>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Beacon Point, AA- tenant (Jun 2026)</c:v>
                  </c:pt>
                  <c:pt idx="1">
                    <c:v>Hyperion, Meta (Oct 2025)</c:v>
                  </c:pt>
                  <c:pt idx="2">
                    <c:v>El Paso, Meta (Jul 2026)</c:v>
                  </c:pt>
                  <c:pt idx="3">
                    <c:v>Digital Drive, CoreWeave (Sep 2026)</c:v>
                  </c:pt>
                </c:lvl>
              </c:multiLvlStrCache>
            </c:multiLvlStrRef>
          </c:cat>
          <c:val>
            <c:numRef>
              <c:f>Sheet1!$B$2:$B$5</c:f>
              <c:numCache>
                <c:formatCode>General</c:formatCode>
                <c:ptCount val="4"/>
                <c:pt idx="0">
                  <c:v>6.129</c:v>
                </c:pt>
                <c:pt idx="1">
                  <c:v>6.581</c:v>
                </c:pt>
                <c:pt idx="2">
                  <c:v>7.534</c:v>
                </c:pt>
                <c:pt idx="3">
                  <c:v>9.25</c:v>
                </c:pt>
              </c:numCache>
            </c:numRef>
          </c:val>
        </c:ser>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GPU Loan Spreads (bps over SOFR)</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dPt>
            <c:idx val="4"/>
            <c:invertIfNegative val="0"/>
            <c:bubble3D val="0"/>
            <c:spPr>
              <a:solidFill>
                <a:srgbClr val="7A2A28"/>
              </a:solidFill>
              <a:effectLst/>
            </c:spPr>
          </c:dPt>
          <c:cat>
            <c:multiLvlStrRef>
              <c:f>Sheet1!$A$2:$A$6</c:f>
              <c:multiLvlStrCache>
                <c:ptCount val="5"/>
                <c:lvl>
                  <c:pt idx="0">
                    <c:v>CoreWeave DDTL 4.0, Meta (A3)</c:v>
                  </c:pt>
                  <c:pt idx="1">
                    <c:v>Lambda TLB, IG offtaker (Baa2)</c:v>
                  </c:pt>
                  <c:pt idx="2">
                    <c:v>CoreWeave DDTL 3.0, OpenAI</c:v>
                  </c:pt>
                  <c:pt idx="3">
                    <c:v>CoreWeave DDTL 5.0 (Ba2)</c:v>
                  </c:pt>
                  <c:pt idx="4">
                    <c:v>CoreWeave DDTL 5.5 (Ba2)</c:v>
                  </c:pt>
                </c:lvl>
              </c:multiLvlStrCache>
            </c:multiLvlStrRef>
          </c:cat>
          <c:val>
            <c:numRef>
              <c:f>Sheet1!$B$2:$B$6</c:f>
              <c:numCache>
                <c:formatCode>General</c:formatCode>
                <c:ptCount val="5"/>
                <c:pt idx="0">
                  <c:v>225</c:v>
                </c:pt>
                <c:pt idx="1">
                  <c:v>300</c:v>
                </c:pt>
                <c:pt idx="2">
                  <c:v>400</c:v>
                </c:pt>
                <c:pt idx="3">
                  <c:v>450</c:v>
                </c:pt>
                <c:pt idx="4">
                  <c:v>550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ABS master trust, senior LTV  |  about 70 (S&amp;P wording on past series)  |  S&amp;P via trade press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All five margins confirmed against company releases and filings in reviews/fact-check-v2.md. DDTL 5.5 also reflects shorter customer contracts, not only timing.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market on their corporate ratings. Joint ventures issue project bonds secured by a lease to a hyperscaler, as with Meta's $27.3bn Hyperion financing, where Blue Owl owns 80% of the vehicle and the A+ rated bonds amortize to 2049. Developers take construction loans against leases to Oracle and OpenAI, before any rent is paid. Neoclouds such as CoreWeave borrow against GPUs and the customer contracts that pay for them. Stabilized campuses are refinanced through data center ABS and CMBS once rent is flowing. In every route the lender is underwriting the tenant, and agencies start from the tenant's rating and subtract notches for construction, lease length, and operator risk.</a:t>
            </a:r>
            <a:endParaRPr lang="en-US" sz="1050" dirty="0"/>
          </a:p>
        </p:txBody>
      </p:sp>
      <p:sp>
        <p:nvSpPr>
          <p:cNvPr id="7" name="Heading How Lenders Size the Debt"/>
          <p:cNvSpPr txBox="1"/>
          <p:nvPr/>
        </p:nvSpPr>
        <p:spPr>
          <a:xfrm>
            <a:off x="557784" y="303580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401568"/>
            <a:ext cx="5742432" cy="16916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Lease backed debt is sized so contracted rent covers debt service and bonds amortize before the lease and its renewals run out, so leverage rises with tenant strength. Hut 8's $4.25bn Beacon Point bonds, backed by a tenant rated AA- or better, financed 95% of project cost at T+165, which Hut 8 calls the highest loan to cost for an HPC data center bond. Oracle's Saline Township campus raised about $14bn of bonds against $16.3bn of cost, or roughly 15% equity. Stabilized campuses are sized on value, and S&amp;P has put senior notes in Aligned's ABS master trust, which added $1.18bn in July, at about 70% of appraised value in past series. GPU lenders lend less against depreciating collateral, and Apollo's $3.5bn for the xAI chip leasing vehicle equals about 65% of a $5.4bn purchase. KBRA cut the cash flow on the single tenant campus behind BX 2026 VLT10 to 18.9% below the issuer's figure and its value to 27.2% below appraisal, lifting leverage on the $1.26bn loan to 108.4%.</a:t>
            </a:r>
            <a:endParaRPr lang="en-US" sz="1050" dirty="0"/>
          </a:p>
        </p:txBody>
      </p:sp>
      <p:sp>
        <p:nvSpPr>
          <p:cNvPr id="9" name="Heading Why It Matters for Credit"/>
          <p:cNvSpPr txBox="1"/>
          <p:nvPr/>
        </p:nvSpPr>
        <p:spPr>
          <a:xfrm>
            <a:off x="557784" y="513892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504688"/>
            <a:ext cx="5742432" cy="11887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carry four year initial terms against bonds amortizing to 2049 and 2048, and Meta's residual value guarantee on Hyperion, capped at about $28bn and covering the first 16 years, bridges most of the gap. Moody's counted $662bn of hyperscaler data center leases not yet commenced at end 2025, held off balance sheet and equal to 113% of their adjusted debt, and says it will treat part as debt, while S&amp;P accepted Hyperion as off balance sheet for Meta. The divergence is that one obligation is a lease to one agency and debt to another, so a tenant downgrade passes through.</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keep funding the buildout but charging more for it. Apollo estimates order cover on hyperscaler bonds fell from about five times in February to below two times by July. Meta's El Paso joint venture priced $12.5bn of A+ rated amortizing notes on July 27 at 7.534%, or T+287.5, with orders peaking near $20bn, about 1.6 times the deal, while the average bond sale this year drew close to four times. That was 62.5bps wider than Hyperion's T+225 in October 2025 on the same tenant, rating, and template. On September 23 a Blue Owl affiliated campus in Virginia leased to CoreWeave sold $1.1bn of BB- rated five year notes at 98.5 to yield 9.25%, about 270bps above similarly rated debt. GPU loans split the same way. CoreWeave borrowed at SOFR plus 225 in March on an A3 rated facility backed by its Meta contract, then paid SOFR plus 550 in August on a Ba2 facility,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371600"/>
                <a:gridCol w="548640"/>
                <a:gridCol w="548640"/>
                <a:gridCol w="713232"/>
                <a:gridCol w="914400"/>
                <a:gridCol w="566928"/>
                <a:gridCol w="1078992"/>
              </a:tblGrid>
              <a:tr h="283464">
                <a:tc>
                  <a:txBody>
                    <a:bodyPr/>
                    <a:lstStyle/>
                    <a:p>
                      <a:pPr algn="l" indent="0" marL="0">
                        <a:buNone/>
                      </a:pPr>
                      <a:r>
                        <a:rPr lang="en-US" sz="800" b="1" dirty="0">
                          <a:solidFill>
                            <a:srgbClr val="FFFFFF"/>
                          </a:solidFill>
                          <a:latin typeface="Times New Roman" pitchFamily="34" charset="0"/>
                          <a:ea typeface="Times New Roman" pitchFamily="34" charset="-122"/>
                          <a:cs typeface="Times New Roman" pitchFamily="34" charset="-120"/>
                        </a:rPr>
                        <a:t>Deal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Size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Rating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Final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Leverage or collateral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Hut 8 Beacon Point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$4.25bn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6.129%, T+165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95% LTC</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Saline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Apr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~$14bn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 at 98.75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 LTC (derived)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Hyperion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Oct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$27.3bn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6.581%, T+225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2049</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Lease, ~$28bn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El Paso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 AA-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7.534%, T+287.5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2048</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Meta lease and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Digital Drive (CoreWeave)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Sep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9.25% yield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CoreWeave lease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Aligned data center ABS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senior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~70% LTV (past series)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BX 2026 VLT10 CMBS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KBRA rated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108% KBRA LTV</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4.0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Mar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A3</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Meta contract</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5.5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Ba2 / 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SOFR+550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~3 yr contracts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Lambda term loan 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$926m</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SOFR+300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IG offtaker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Jupiter loan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Late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Quoted 89 to 91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Oracle lease (BBB-)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702552"/>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and El Paso shows S&amp;P then Fitch. Saline LTC is derived from $14bn of bonds against $16.3bn of cost.</a:t>
            </a:r>
            <a:endParaRPr lang="en-US" sz="700" dirty="0"/>
          </a:p>
        </p:txBody>
      </p:sp>
      <p:sp>
        <p:nvSpPr>
          <p:cNvPr id="10" name="Heading Spreads Follow the Tenant"/>
          <p:cNvSpPr txBox="1"/>
          <p:nvPr/>
        </p:nvSpPr>
        <p:spPr>
          <a:xfrm>
            <a:off x="557784" y="7077456"/>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443216"/>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tenant sets the starting point, and tenor and timing set the rest. Beacon Point, with a tenant rated AA- or better and bonds amortizing to 2042, priced at T+165 despite 95% leverage. El Paso, with A+ rated notes backed by Meta's lease and a 2048 final maturity, needed T+287.5 nine months after Hyperion, as order books thinned. Below investment grade the step is larger, and CoreWeave linked paper clears near 9.25% even when secured. Among corporates, Amazon paid a new issue concession of 10 to 12bps on its $25bn July deal against a 2026 average near 4bps, and Meta's $25bn April deal drew a $96bn book against $125bn for its October 2025 deal. Oracle's $25bn February deal drew a $129bn book, yet its 10 year priced near T+145 while TwentyFour Asset Management put the US BBB index near T+95.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and said another downgrade is possible if leverage stays above 4.5x. Oracle's September 10 results showed remaining performance obligations of $664bn, quarterly capex of $28.5bn, and fiscal 2027 capex guidance of $90bn to $95bn. The strain has reached project debt. The $18bn construction loan on Project Jupiter, a 2.45 gigawatt New Mexico campus developed by a Blue Owl unit and leased to Oracle, was quoted at 89 to 91 cents in September, with syndicate banks holding more of it than planned. On September 24 Oracle sent the developer a force majeure notice after a gas pipeline slipped to February 2027, which could let it defer rent for up to three years. Oracle says the project is on schedule.</a:t>
            </a:r>
            <a:endParaRPr lang="en-US" sz="1050" dirty="0"/>
          </a:p>
        </p:txBody>
      </p:sp>
      <p:sp>
        <p:nvSpPr>
          <p:cNvPr id="7" name="Chart title C"/>
          <p:cNvSpPr txBox="1"/>
          <p:nvPr/>
        </p:nvSpPr>
        <p:spPr>
          <a:xfrm>
            <a:off x="557784" y="306324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graphicFrame>
        <p:nvGraphicFramePr>
          <p:cNvPr id="8" name="Chart 0" descr=""/>
          <p:cNvGraphicFramePr/>
          <p:nvPr/>
        </p:nvGraphicFramePr>
        <p:xfrm>
          <a:off x="557784" y="3355848"/>
          <a:ext cx="2798064" cy="1371600"/>
        </p:xfrm>
        <a:graphic xmlns:a="http://schemas.openxmlformats.org/drawingml/2006/main">
          <a:graphicData uri="http://schemas.openxmlformats.org/drawingml/2006/chart">
            <c:chart xmlns:c="http://schemas.openxmlformats.org/drawingml/2006/chart" r:id="rId1"/>
          </a:graphicData>
        </a:graphic>
      </p:graphicFrame>
      <p:sp>
        <p:nvSpPr>
          <p:cNvPr id="9" name="Chart footnote C"/>
          <p:cNvSpPr txBox="1"/>
          <p:nvPr/>
        </p:nvSpPr>
        <p:spPr>
          <a:xfrm>
            <a:off x="557784" y="474573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Yield at issue, Oct 2025 to Sep 2026. Treasury yields moved over the period, so the spreads of T+165, T+225 and T+287.5 are the fair comparison.</a:t>
            </a:r>
            <a:endParaRPr lang="en-US" sz="700" dirty="0"/>
          </a:p>
        </p:txBody>
      </p:sp>
      <p:sp>
        <p:nvSpPr>
          <p:cNvPr id="10" name="Chart title A"/>
          <p:cNvSpPr txBox="1"/>
          <p:nvPr/>
        </p:nvSpPr>
        <p:spPr>
          <a:xfrm>
            <a:off x="3502152" y="306324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graphicFrame>
        <p:nvGraphicFramePr>
          <p:cNvPr id="11" name="Chart 1" descr=""/>
          <p:cNvGraphicFramePr/>
          <p:nvPr/>
        </p:nvGraphicFramePr>
        <p:xfrm>
          <a:off x="3502152" y="3355848"/>
          <a:ext cx="2798064" cy="1371600"/>
        </p:xfrm>
        <a:graphic xmlns:a="http://schemas.openxmlformats.org/drawingml/2006/main">
          <a:graphicData uri="http://schemas.openxmlformats.org/drawingml/2006/chart">
            <c:chart xmlns:c="http://schemas.openxmlformats.org/drawingml/2006/chart" r:id="rId2"/>
          </a:graphicData>
        </a:graphic>
      </p:graphicFrame>
      <p:sp>
        <p:nvSpPr>
          <p:cNvPr id="12" name="Chart footnote A"/>
          <p:cNvSpPr txBox="1"/>
          <p:nvPr/>
        </p:nvSpPr>
        <p:spPr>
          <a:xfrm>
            <a:off x="3502152" y="474573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Margin over SOFR at closing.</a:t>
            </a:r>
            <a:endParaRPr lang="en-US" sz="700" dirty="0"/>
          </a:p>
        </p:txBody>
      </p:sp>
      <p:sp>
        <p:nvSpPr>
          <p:cNvPr id="13" name="Heading Risk Considerations"/>
          <p:cNvSpPr txBox="1"/>
          <p:nvPr/>
        </p:nvSpPr>
        <p:spPr>
          <a:xfrm>
            <a:off x="557784" y="509320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45896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an OpenAI contract backing one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83056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83056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196328"/>
            <a:ext cx="2743200" cy="20574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residual value guarantee covering the first 16 years, and A+ rated amortizing bonds. On Hyperion the guarantee totals about $28bn against $27.3bn of bonds, and rent begins in 2029. Hyperion priced at 6.581%, or T+225, in October 2025. El Paso priced $12.5bn at 7.534%, or T+287.5, in July, with Fitch one notch higher at AA-. The 62.5bps wider spread on the same tenant suggests that investors now price supply and timing on top of Meta's credit.</a:t>
            </a:r>
            <a:endParaRPr lang="en-US" sz="1050" dirty="0"/>
          </a:p>
        </p:txBody>
      </p:sp>
      <p:sp>
        <p:nvSpPr>
          <p:cNvPr id="18" name="Callout right body"/>
          <p:cNvSpPr txBox="1"/>
          <p:nvPr/>
        </p:nvSpPr>
        <p:spPr>
          <a:xfrm>
            <a:off x="3557016" y="7196328"/>
            <a:ext cx="2743200" cy="20574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325bps gap between its A3 and Ba2 facilities mostly prices counterparty risk, though the 100bps step from May to August, on shorter customer contracts, shows contract length and timing matter too.</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2026-10-06T03:44:56Z</dcterms:created>
  <dcterms:modified xsi:type="dcterms:W3CDTF">2026-10-06T03:44:56Z</dcterms:modified>
</cp:coreProperties>
</file>