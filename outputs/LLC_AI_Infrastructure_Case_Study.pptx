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Project Bond Yields by Tenant (%)</c:v>
                </c:pt>
              </c:strCache>
            </c:strRef>
          </c:tx>
          <c:spPr>
            <a:solidFill>
              <a:srgbClr val="9A3839"/>
            </a:solidFill>
            <a:effectLst/>
          </c:spPr>
          <c:invertIfNegative val="0"/>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Beacon Point, AA- tenant (Jun 2026)</c:v>
                  </c:pt>
                  <c:pt idx="1">
                    <c:v>Hyperion, Meta (Oct 2025)</c:v>
                  </c:pt>
                  <c:pt idx="2">
                    <c:v>El Paso, Meta (Jul 2026)</c:v>
                  </c:pt>
                  <c:pt idx="3">
                    <c:v>Digital Drive, CoreWeave (Sep 2026)</c:v>
                  </c:pt>
                </c:lvl>
              </c:multiLvlStrCache>
            </c:multiLvlStrRef>
          </c:cat>
          <c:val>
            <c:numRef>
              <c:f>Sheet1!$B$2:$B$5</c:f>
              <c:numCache>
                <c:formatCode>General</c:formatCode>
                <c:ptCount val="4"/>
                <c:pt idx="0">
                  <c:v>6.129</c:v>
                </c:pt>
                <c:pt idx="1">
                  <c:v>6.581</c:v>
                </c:pt>
                <c:pt idx="2">
                  <c:v>7.534</c:v>
                </c:pt>
                <c:pt idx="3">
                  <c:v>9.25</c:v>
                </c:pt>
              </c:numCache>
            </c:numRef>
          </c:val>
        </c:ser>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GPU Loan Spreads (bps over SOFR)</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dPt>
            <c:idx val="4"/>
            <c:invertIfNegative val="0"/>
            <c:bubble3D val="0"/>
            <c:spPr>
              <a:solidFill>
                <a:srgbClr val="7A2A28"/>
              </a:solidFill>
              <a:effectLst/>
            </c:spPr>
          </c:dPt>
          <c:cat>
            <c:multiLvlStrRef>
              <c:f>Sheet1!$A$2:$A$6</c:f>
              <c:multiLvlStrCache>
                <c:ptCount val="5"/>
                <c:lvl>
                  <c:pt idx="0">
                    <c:v>CoreWeave DDTL 4.0, Meta (A3)</c:v>
                  </c:pt>
                  <c:pt idx="1">
                    <c:v>Lambda TLB, IG offtaker (Baa2)</c:v>
                  </c:pt>
                  <c:pt idx="2">
                    <c:v>CoreWeave DDTL 3.0, OpenAI</c:v>
                  </c:pt>
                  <c:pt idx="3">
                    <c:v>CoreWeave DDTL 5.0 (Ba2)</c:v>
                  </c:pt>
                  <c:pt idx="4">
                    <c:v>CoreWeave DDTL 5.5 (Ba2)</c:v>
                  </c:pt>
                </c:lvl>
              </c:multiLvlStrCache>
            </c:multiLvlStrRef>
          </c:cat>
          <c:val>
            <c:numRef>
              <c:f>Sheet1!$B$2:$B$6</c:f>
              <c:numCache>
                <c:formatCode>General</c:formatCode>
                <c:ptCount val="5"/>
                <c:pt idx="0">
                  <c:v>225</c:v>
                </c:pt>
                <c:pt idx="1">
                  <c:v>300</c:v>
                </c:pt>
                <c:pt idx="2">
                  <c:v>400</c:v>
                </c:pt>
                <c:pt idx="3">
                  <c:v>450</c:v>
                </c:pt>
                <c:pt idx="4">
                  <c:v>550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data center ABS, loan to value  |  70.0  |  Aligned release, S&amp;P presale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DDTL 4.0's SOFR plus 225 appears in the company release per the research notes, but one research pass rated it aggregator only. Confirm in the release before verifying.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market. Joint ventures issue project bonds secured by a lease to a hyperscaler, as with Meta's $27.3bn Hyperion financing, where Blue Owl owns 80% of the vehicle and the A+ rated bonds amortize to 2049. Developers take construction loans against leases to Oracle and OpenAI. Neoclouds such as CoreWeave borrow against GPUs and the customer contracts that pay for them. Stabilized campuses are refinanced through data center ABS and CMBS. In every route the lender is underwriting the tenant, and agencies start from the tenant's rating and subtract notches for construction, lease length, and operator risk.</a:t>
            </a:r>
            <a:endParaRPr lang="en-US" sz="1050" dirty="0"/>
          </a:p>
        </p:txBody>
      </p:sp>
      <p:sp>
        <p:nvSpPr>
          <p:cNvPr id="7" name="Heading How Lenders Size the Debt"/>
          <p:cNvSpPr txBox="1"/>
          <p:nvPr/>
        </p:nvSpPr>
        <p:spPr>
          <a:xfrm>
            <a:off x="557784" y="285292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218688"/>
            <a:ext cx="5742432" cy="17830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Lease backed debt is sized so that contracted rent covers debt service with a thin cushion and the bonds amortize before the lease and its renewals run out, so leverage rises with the strength of the tenant. Hut 8's $4.25bn Beacon Point bonds, backed by a tenant rated AA- or better, financed 95% of project cost at T+165, which Hut 8 calls the highest loan to cost for an HPC data center bond. Oracle's Saline Township campus in Michigan raised about $14bn of bonds against $16.3bn of cost, leaving roughly 15% equity. Stabilized campuses are sized on appraised value, and Aligned's ABS master trust, which added $1.18bn in July, caps its senior notes at 70% of appraised value. GPU lenders lend less because the collateral depreciates, and Apollo's $3.5bn for the vehicle that leases chips to xAI equals about 65% of a $5.4bn purchase. Agencies stress all of these. KBRA cut the cash flow on the single tenant Ohio campus behind BX 2026 VLT10 to 18.9% below the issuer's figure and its value to 27.2% below appraisal, lifting leverage on the $1.26bn loan to 108.4%.</a:t>
            </a:r>
            <a:endParaRPr lang="en-US" sz="1050" dirty="0"/>
          </a:p>
        </p:txBody>
      </p:sp>
      <p:sp>
        <p:nvSpPr>
          <p:cNvPr id="9" name="Heading Why It Matters for Credit"/>
          <p:cNvSpPr txBox="1"/>
          <p:nvPr/>
        </p:nvSpPr>
        <p:spPr>
          <a:xfrm>
            <a:off x="557784" y="50749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440680"/>
            <a:ext cx="5742432" cy="12344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both carry four year initial terms against bonds amortizing to 2049 and 2048, and Meta's residual value guarantee on Hyperion, about $28bn and covering the first 16 years, is what bridges the gap. Moody's counted $662bn of hyperscaler data center leases not yet commenced at the end of 2025, held off balance sheet and equal to 113% of their adjusted debt, and says it will treat part of them as debt, while S&amp;P accepted Hyperion as off balance sheet for Meta. The divergence is that one obligation is a lease to one agency and debt to another, and any tenant downgrade passes straight through to the structures built on it.</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are still funding the buildout, but they are charging more for it. Apollo estimates that order cover on hyperscaler bonds fell from about five times in February to below two times by July. Meta's El Paso joint venture priced $12.5bn of A+ rated amortizing notes on July 27 at 7.534%, or T+287.5, with orders peaking near $20bn, about 1.6 times the deal, while the average bond sale this year drew close to four times. That was 62.5bps wider than Hyperion's T+225 in October 2025 on the same tenant, rating, and template. On September 23 a Blue Owl affiliated campus in Virginia leased to CoreWeave sold $1.1bn of BB- rated five year notes at 98.5 to yield 9.25%, about 270bps above similarly rated debt. GPU loans show the same split. CoreWeave borrowed at SOFR plus 225 in March on an A3 rated facility backed by its Meta contract, then paid SOFR plus 550 in August on a Ba2 facility,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371600"/>
                <a:gridCol w="548640"/>
                <a:gridCol w="548640"/>
                <a:gridCol w="713232"/>
                <a:gridCol w="914400"/>
                <a:gridCol w="566928"/>
                <a:gridCol w="1078992"/>
              </a:tblGrid>
              <a:tr h="256032">
                <a:tc>
                  <a:txBody>
                    <a:bodyPr/>
                    <a:lstStyle/>
                    <a:p>
                      <a:pPr algn="l" indent="0" marL="0">
                        <a:buNone/>
                      </a:pPr>
                      <a:r>
                        <a:rPr lang="en-US" sz="800" b="1" dirty="0">
                          <a:solidFill>
                            <a:srgbClr val="FFFFFF"/>
                          </a:solidFill>
                          <a:latin typeface="Times New Roman" pitchFamily="34" charset="0"/>
                          <a:ea typeface="Times New Roman" pitchFamily="34" charset="-122"/>
                          <a:cs typeface="Times New Roman" pitchFamily="34" charset="-120"/>
                        </a:rPr>
                        <a:t>Deal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Size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Rating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Final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Leverage or collateral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Hut 8 Beacon Point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$4.25bn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6.129%, T+165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95% LTC</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Saline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Apr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~$14bn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 at 98.75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 LTC (derived)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Hyperion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Oct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$27.3bn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6.581%, T+225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2049</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Lease, ~$28bn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El Paso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 AA-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7.534%, T+287.5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2048</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Meta lease and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Digital Drive (CoreWeave)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Sep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9.25% yield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CoreWeave lease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Aligned data center ABS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senior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70% LTV cap</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BX 2026 VLT10 CMBS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KBRA rated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108% KBRA LTV</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4.0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Mar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A3</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Meta contract</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5.5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Ba2 / 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SOFR+550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~3 yr contracts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Lambda term loan 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$926m</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SOFR+300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IG offtaker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Jupiter loan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Late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Quoted 89 to 91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Oracle lease (BBB-)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373368"/>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and El Paso shows S&amp;P then Fitch. Saline LTC is derived from the reported 15% equity.</a:t>
            </a:r>
            <a:endParaRPr lang="en-US" sz="700" dirty="0"/>
          </a:p>
        </p:txBody>
      </p:sp>
      <p:sp>
        <p:nvSpPr>
          <p:cNvPr id="10" name="Heading Spreads Follow the Tenant"/>
          <p:cNvSpPr txBox="1"/>
          <p:nvPr/>
        </p:nvSpPr>
        <p:spPr>
          <a:xfrm>
            <a:off x="557784" y="6684264"/>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050024"/>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table shows that the tenant sets the starting point and tenor and timing set the rest. Beacon Point, with a tenant rated AA- or better and bonds that amortize to 2042, priced at T+165 despite 95% leverage. El Paso, with A+ rated notes backed by Meta's lease and a 2048 final maturity, needed T+287.5 nine months after Hyperion, by which time order books for hyperscaler debt had thinned. Below investment grade the step is larger, and CoreWeave linked paper now clears near 9.25% even on a secured basis. Hyperscaler corporate bonds are repricing as well. Amazon paid a new issue concession of 10 to 12bps on its $25bn July deal against a 2026 average near 4bps, and Meta's $25bn April deal drew a $96bn book against $125bn for its October 2025 deal. Oracle's $25bn February deal drew a $129bn book, yet its 10 year priced near T+145 while the US BBB index traded around T+95.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and said another downgrade is possible if leverage stays above 4.5x. Oracle's September 10 results showed remaining performance obligations of $664bn, quarterly capex of $28.5bn, and fiscal 2027 capex guidance of $90bn to $95bn. The strain has reached project debt. The $18bn construction loan on Project Jupiter, a 2.45 gigawatt New Mexico campus developed by a Blue Owl unit and leased to Oracle, was quoted at 89 to 91 cents in September, with syndicate banks holding more of it than planned. On September 24 Oracle sent the developer a force majeure notice after a gas pipeline slipped to February 2027, which could let it defer rent for up to three years. Oracle says the project is on schedule.</a:t>
            </a:r>
            <a:endParaRPr lang="en-US" sz="1050" dirty="0"/>
          </a:p>
        </p:txBody>
      </p:sp>
      <p:sp>
        <p:nvSpPr>
          <p:cNvPr id="7" name="Chart title C"/>
          <p:cNvSpPr txBox="1"/>
          <p:nvPr/>
        </p:nvSpPr>
        <p:spPr>
          <a:xfrm>
            <a:off x="557784"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graphicFrame>
        <p:nvGraphicFramePr>
          <p:cNvPr id="8" name="Chart 0" descr=""/>
          <p:cNvGraphicFramePr/>
          <p:nvPr/>
        </p:nvGraphicFramePr>
        <p:xfrm>
          <a:off x="557784" y="3493008"/>
          <a:ext cx="2798064" cy="1371600"/>
        </p:xfrm>
        <a:graphic xmlns:a="http://schemas.openxmlformats.org/drawingml/2006/main">
          <a:graphicData uri="http://schemas.openxmlformats.org/drawingml/2006/chart">
            <c:chart xmlns:c="http://schemas.openxmlformats.org/drawingml/2006/chart" r:id="rId1"/>
          </a:graphicData>
        </a:graphic>
      </p:graphicFrame>
      <p:sp>
        <p:nvSpPr>
          <p:cNvPr id="9" name="Chart footnote C"/>
          <p:cNvSpPr txBox="1"/>
          <p:nvPr/>
        </p:nvSpPr>
        <p:spPr>
          <a:xfrm>
            <a:off x="557784" y="488289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Yield at issue. Spreads were T+165, T+225 and T+287.5 for the first three. Yields span Oct 2025 to Sep 2026 and Treasury yields moved in between (the 10 year rose about a point), so spreads are the fair comparison.</a:t>
            </a:r>
            <a:endParaRPr lang="en-US" sz="700" dirty="0"/>
          </a:p>
        </p:txBody>
      </p:sp>
      <p:sp>
        <p:nvSpPr>
          <p:cNvPr id="10" name="Chart title A"/>
          <p:cNvSpPr txBox="1"/>
          <p:nvPr/>
        </p:nvSpPr>
        <p:spPr>
          <a:xfrm>
            <a:off x="3502152"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graphicFrame>
        <p:nvGraphicFramePr>
          <p:cNvPr id="11" name="Chart 1" descr=""/>
          <p:cNvGraphicFramePr/>
          <p:nvPr/>
        </p:nvGraphicFramePr>
        <p:xfrm>
          <a:off x="3502152" y="3493008"/>
          <a:ext cx="2798064" cy="1371600"/>
        </p:xfrm>
        <a:graphic xmlns:a="http://schemas.openxmlformats.org/drawingml/2006/main">
          <a:graphicData uri="http://schemas.openxmlformats.org/drawingml/2006/chart">
            <c:chart xmlns:c="http://schemas.openxmlformats.org/drawingml/2006/chart" r:id="rId2"/>
          </a:graphicData>
        </a:graphic>
      </p:graphicFrame>
      <p:sp>
        <p:nvSpPr>
          <p:cNvPr id="12" name="Chart footnote A"/>
          <p:cNvSpPr txBox="1"/>
          <p:nvPr/>
        </p:nvSpPr>
        <p:spPr>
          <a:xfrm>
            <a:off x="3502152" y="488289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Margin over SOFR at closing.</a:t>
            </a:r>
            <a:endParaRPr lang="en-US" sz="700" dirty="0"/>
          </a:p>
        </p:txBody>
      </p:sp>
      <p:sp>
        <p:nvSpPr>
          <p:cNvPr id="13" name="Heading Risk Considerations"/>
          <p:cNvSpPr txBox="1"/>
          <p:nvPr/>
        </p:nvSpPr>
        <p:spPr>
          <a:xfrm>
            <a:off x="557784" y="523036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59612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an OpenAI contract backing one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residual value guarantee covering the first 16 years, and A+ rated amortizing bonds. On Hyperion the guarantee totals about $28bn against $27.3bn of bonds, and rent begins in June 2029. Hyperion priced at 6.581%, or T+225, in October 2025. El Paso priced $12.5bn at 7.534%, or T+287.5, in July, with Fitch one notch higher at AA-. The 62.5bps wider spread on the same tenant shows that investors now price supply, structure, and timing on top of Meta's credit.</a:t>
            </a:r>
            <a:endParaRPr lang="en-US" sz="1050" dirty="0"/>
          </a:p>
        </p:txBody>
      </p:sp>
      <p:sp>
        <p:nvSpPr>
          <p:cNvPr id="18" name="Callout right body"/>
          <p:cNvSpPr txBox="1"/>
          <p:nvPr/>
        </p:nvSpPr>
        <p:spPr>
          <a:xfrm>
            <a:off x="3557016"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company itself is rated B+ by S&amp;P. The 325bps gap between its A3 and Ba2 facilities mostly prices counterparty risk, though the 100bps move between May and August shows timing matters too.</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2026-10-06T03:37:41Z</dcterms:created>
  <dcterms:modified xsi:type="dcterms:W3CDTF">2026-10-06T03:37:41Z</dcterms:modified>
</cp:coreProperties>
</file>